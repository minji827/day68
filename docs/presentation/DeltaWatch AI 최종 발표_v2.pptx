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7"/>
  </p:notesMasterIdLst>
  <p:sldIdLst>
    <p:sldId id="266" r:id="rId2"/>
    <p:sldId id="267" r:id="rId3"/>
    <p:sldId id="268" r:id="rId4"/>
    <p:sldId id="269" r:id="rId5"/>
    <p:sldId id="270" r:id="rId6"/>
    <p:sldId id="27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80" r:id="rId15"/>
    <p:sldId id="281" r:id="rId16"/>
  </p:sldIdLst>
  <p:sldSz cx="18288000" cy="10287000"/>
  <p:notesSz cx="6858000" cy="9144000"/>
  <p:embeddedFontLst>
    <p:embeddedFont>
      <p:font typeface="TDTD평고딕" panose="020B0600000101010101" charset="-127"/>
      <p:regular r:id="rId18"/>
    </p:embeddedFont>
    <p:embeddedFont>
      <p:font typeface="윤고딕" panose="020B0600000101010101" charset="-127"/>
      <p:regular r:id="rId19"/>
    </p:embeddedFont>
    <p:embeddedFont>
      <p:font typeface="윤고딕 Bold" panose="020B0600000101010101" charset="-127"/>
      <p:regular r:id="rId20"/>
    </p:embeddedFont>
    <p:embeddedFont>
      <p:font typeface="윤고딕 Semi-Bold" panose="020B0600000101010101" charset="-127"/>
      <p:regular r:id="rId21"/>
    </p:embeddedFont>
    <p:embeddedFont>
      <p:font typeface="Lato Bold" panose="020B0600000101010101" charset="0"/>
      <p:regular r:id="rId22"/>
    </p:embeddedFont>
    <p:embeddedFont>
      <p:font typeface="Lato Heavy" panose="020B0600000101010101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514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8548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인사 후 한 문장: "투자 리서치 담당자가 '지난번에 본 뒤로 뭐가 바뀌었나'를 다시 찾지 않게 하는 도구를 만들었습니다." 종목 추천·주가 예측이 아니라는 점을 여기서 미리 못박는다. (30초)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빠르게 넘긴다. "문제 → 어떻게 만들었나 → 무엇으로 판정하나 → 결과" 네 덩어리라고만. (15초)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10초. "관심기업 16개를 넣고 4월 1일을 검토일로 잡으면, 재무 Rule이 22건 뜨고 그중 1개사는 오늘 바로 열어봐야 합니다." 숫자는 뒤에 띄울 Power BI 화면과 같은 값이다. (30초)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숫자</a:t>
            </a:r>
            <a:r>
              <a:rPr dirty="0"/>
              <a:t> </a:t>
            </a:r>
            <a:r>
              <a:rPr dirty="0" err="1"/>
              <a:t>둘만</a:t>
            </a:r>
            <a:r>
              <a:rPr dirty="0"/>
              <a:t> </a:t>
            </a:r>
            <a:r>
              <a:rPr dirty="0" err="1"/>
              <a:t>읽는다</a:t>
            </a:r>
            <a:r>
              <a:rPr dirty="0"/>
              <a:t>. "</a:t>
            </a:r>
            <a:r>
              <a:rPr dirty="0" err="1"/>
              <a:t>마감일</a:t>
            </a:r>
            <a:r>
              <a:rPr dirty="0"/>
              <a:t> </a:t>
            </a:r>
            <a:r>
              <a:rPr dirty="0" err="1"/>
              <a:t>하루에</a:t>
            </a:r>
            <a:r>
              <a:rPr dirty="0"/>
              <a:t> 1,500건이 </a:t>
            </a:r>
            <a:r>
              <a:rPr dirty="0" err="1"/>
              <a:t>뜹니다</a:t>
            </a:r>
            <a:r>
              <a:rPr dirty="0"/>
              <a:t>. </a:t>
            </a:r>
            <a:r>
              <a:rPr dirty="0" err="1"/>
              <a:t>그리고</a:t>
            </a:r>
            <a:r>
              <a:rPr dirty="0"/>
              <a:t> </a:t>
            </a:r>
            <a:r>
              <a:rPr dirty="0" err="1"/>
              <a:t>손익이</a:t>
            </a:r>
            <a:r>
              <a:rPr dirty="0"/>
              <a:t> 30% </a:t>
            </a:r>
            <a:r>
              <a:rPr dirty="0" err="1"/>
              <a:t>넘게</a:t>
            </a:r>
            <a:r>
              <a:rPr dirty="0"/>
              <a:t> </a:t>
            </a:r>
            <a:r>
              <a:rPr dirty="0" err="1"/>
              <a:t>바뀐</a:t>
            </a:r>
            <a:r>
              <a:rPr dirty="0"/>
              <a:t> </a:t>
            </a:r>
            <a:r>
              <a:rPr dirty="0" err="1"/>
              <a:t>공시의</a:t>
            </a:r>
            <a:r>
              <a:rPr dirty="0"/>
              <a:t> </a:t>
            </a:r>
            <a:r>
              <a:rPr dirty="0" err="1"/>
              <a:t>절반</a:t>
            </a:r>
            <a:r>
              <a:rPr dirty="0"/>
              <a:t> </a:t>
            </a:r>
            <a:r>
              <a:rPr dirty="0" err="1"/>
              <a:t>이상이</a:t>
            </a:r>
            <a:r>
              <a:rPr dirty="0"/>
              <a:t> '</a:t>
            </a:r>
            <a:r>
              <a:rPr dirty="0" err="1"/>
              <a:t>정정'이었습니다</a:t>
            </a:r>
            <a:r>
              <a:rPr dirty="0"/>
              <a:t> — </a:t>
            </a:r>
            <a:r>
              <a:rPr dirty="0" err="1"/>
              <a:t>이미</a:t>
            </a:r>
            <a:r>
              <a:rPr dirty="0"/>
              <a:t> </a:t>
            </a:r>
            <a:r>
              <a:rPr dirty="0" err="1"/>
              <a:t>발표한</a:t>
            </a:r>
            <a:r>
              <a:rPr dirty="0"/>
              <a:t> </a:t>
            </a:r>
            <a:r>
              <a:rPr dirty="0" err="1"/>
              <a:t>숫자가</a:t>
            </a:r>
            <a:r>
              <a:rPr dirty="0"/>
              <a:t> </a:t>
            </a:r>
            <a:r>
              <a:rPr dirty="0" err="1"/>
              <a:t>바뀐</a:t>
            </a:r>
            <a:r>
              <a:rPr dirty="0"/>
              <a:t> </a:t>
            </a:r>
            <a:r>
              <a:rPr dirty="0" err="1"/>
              <a:t>겁니다</a:t>
            </a:r>
            <a:r>
              <a:rPr dirty="0"/>
              <a:t>." 맨 </a:t>
            </a:r>
            <a:r>
              <a:rPr dirty="0" err="1"/>
              <a:t>아래</a:t>
            </a:r>
            <a:r>
              <a:rPr dirty="0"/>
              <a:t> </a:t>
            </a:r>
            <a:r>
              <a:rPr dirty="0" err="1"/>
              <a:t>문장이</a:t>
            </a:r>
            <a:r>
              <a:rPr dirty="0"/>
              <a:t> </a:t>
            </a:r>
            <a:r>
              <a:rPr dirty="0" err="1"/>
              <a:t>다음</a:t>
            </a:r>
            <a:r>
              <a:rPr dirty="0"/>
              <a:t> </a:t>
            </a:r>
            <a:r>
              <a:rPr dirty="0" err="1"/>
              <a:t>장으로</a:t>
            </a:r>
            <a:r>
              <a:rPr dirty="0"/>
              <a:t> </a:t>
            </a:r>
            <a:r>
              <a:rPr dirty="0" err="1"/>
              <a:t>넘어가는</a:t>
            </a:r>
            <a:r>
              <a:rPr dirty="0"/>
              <a:t> </a:t>
            </a:r>
            <a:r>
              <a:rPr dirty="0" err="1"/>
              <a:t>다리</a:t>
            </a:r>
            <a:r>
              <a:rPr dirty="0"/>
              <a:t>. (45초)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30초. "</a:t>
            </a:r>
            <a:r>
              <a:rPr dirty="0" err="1"/>
              <a:t>원본은</a:t>
            </a:r>
            <a:r>
              <a:rPr dirty="0"/>
              <a:t> </a:t>
            </a:r>
            <a:r>
              <a:rPr dirty="0" err="1"/>
              <a:t>RAW에</a:t>
            </a:r>
            <a:r>
              <a:rPr dirty="0"/>
              <a:t> </a:t>
            </a:r>
            <a:r>
              <a:rPr dirty="0" err="1"/>
              <a:t>그대로</a:t>
            </a:r>
            <a:r>
              <a:rPr dirty="0"/>
              <a:t>, </a:t>
            </a:r>
            <a:r>
              <a:rPr dirty="0" err="1"/>
              <a:t>CORE에서</a:t>
            </a:r>
            <a:r>
              <a:rPr dirty="0"/>
              <a:t> </a:t>
            </a:r>
            <a:r>
              <a:rPr dirty="0" err="1"/>
              <a:t>표준화하고</a:t>
            </a:r>
            <a:r>
              <a:rPr dirty="0"/>
              <a:t> </a:t>
            </a:r>
            <a:r>
              <a:rPr dirty="0" err="1"/>
              <a:t>정정공시를</a:t>
            </a:r>
            <a:r>
              <a:rPr dirty="0"/>
              <a:t> </a:t>
            </a:r>
            <a:r>
              <a:rPr dirty="0" err="1"/>
              <a:t>원공시에</a:t>
            </a:r>
            <a:r>
              <a:rPr dirty="0"/>
              <a:t> </a:t>
            </a:r>
            <a:r>
              <a:rPr dirty="0" err="1"/>
              <a:t>연결</a:t>
            </a:r>
            <a:r>
              <a:rPr dirty="0"/>
              <a:t>, </a:t>
            </a:r>
            <a:r>
              <a:rPr dirty="0" err="1"/>
              <a:t>MART는</a:t>
            </a:r>
            <a:r>
              <a:rPr dirty="0"/>
              <a:t> Power </a:t>
            </a:r>
            <a:r>
              <a:rPr dirty="0" err="1"/>
              <a:t>BI와</a:t>
            </a:r>
            <a:r>
              <a:rPr dirty="0"/>
              <a:t> </a:t>
            </a:r>
            <a:r>
              <a:rPr dirty="0" err="1"/>
              <a:t>OpenAI가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걸 </a:t>
            </a:r>
            <a:r>
              <a:rPr dirty="0" err="1"/>
              <a:t>읽습니다</a:t>
            </a:r>
            <a:r>
              <a:rPr dirty="0"/>
              <a:t>." </a:t>
            </a:r>
            <a:r>
              <a:rPr dirty="0" err="1"/>
              <a:t>ngrok</a:t>
            </a:r>
            <a:r>
              <a:rPr dirty="0"/>
              <a:t> 한 줄: "</a:t>
            </a:r>
            <a:r>
              <a:rPr dirty="0" err="1"/>
              <a:t>로컬</a:t>
            </a:r>
            <a:r>
              <a:rPr dirty="0"/>
              <a:t> </a:t>
            </a:r>
            <a:r>
              <a:rPr dirty="0" err="1"/>
              <a:t>DB를</a:t>
            </a:r>
            <a:r>
              <a:rPr dirty="0"/>
              <a:t> </a:t>
            </a:r>
            <a:r>
              <a:rPr dirty="0" err="1"/>
              <a:t>ngrok으로</a:t>
            </a:r>
            <a:r>
              <a:rPr dirty="0"/>
              <a:t> </a:t>
            </a:r>
            <a:r>
              <a:rPr dirty="0" err="1"/>
              <a:t>열어서</a:t>
            </a:r>
            <a:r>
              <a:rPr dirty="0"/>
              <a:t> 네 </a:t>
            </a:r>
            <a:r>
              <a:rPr dirty="0" err="1"/>
              <a:t>명이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DB를</a:t>
            </a:r>
            <a:r>
              <a:rPr dirty="0"/>
              <a:t> </a:t>
            </a:r>
            <a:r>
              <a:rPr dirty="0" err="1"/>
              <a:t>봤습니다</a:t>
            </a:r>
            <a:r>
              <a:rPr dirty="0"/>
              <a:t>." </a:t>
            </a:r>
            <a:r>
              <a:rPr dirty="0" err="1"/>
              <a:t>비교</a:t>
            </a:r>
            <a:r>
              <a:rPr dirty="0"/>
              <a:t> </a:t>
            </a:r>
            <a:r>
              <a:rPr dirty="0" err="1"/>
              <a:t>기준</a:t>
            </a:r>
            <a:r>
              <a:rPr dirty="0"/>
              <a:t>(</a:t>
            </a:r>
            <a:r>
              <a:rPr dirty="0" err="1"/>
              <a:t>전년</a:t>
            </a:r>
            <a:r>
              <a:rPr dirty="0"/>
              <a:t> </a:t>
            </a:r>
            <a:r>
              <a:rPr dirty="0" err="1"/>
              <a:t>동기</a:t>
            </a:r>
            <a:r>
              <a:rPr dirty="0"/>
              <a:t>)은 </a:t>
            </a:r>
            <a:r>
              <a:rPr dirty="0" err="1"/>
              <a:t>금융</a:t>
            </a:r>
            <a:r>
              <a:rPr dirty="0"/>
              <a:t> </a:t>
            </a:r>
            <a:r>
              <a:rPr dirty="0" err="1"/>
              <a:t>아는</a:t>
            </a:r>
            <a:r>
              <a:rPr dirty="0"/>
              <a:t> </a:t>
            </a:r>
            <a:r>
              <a:rPr dirty="0" err="1"/>
              <a:t>심사역이</a:t>
            </a:r>
            <a:r>
              <a:rPr dirty="0"/>
              <a:t> 꼭 </a:t>
            </a:r>
            <a:r>
              <a:rPr dirty="0" err="1"/>
              <a:t>묻는</a:t>
            </a:r>
            <a:r>
              <a:rPr dirty="0"/>
              <a:t> </a:t>
            </a:r>
            <a:r>
              <a:rPr dirty="0" err="1"/>
              <a:t>부분</a:t>
            </a:r>
            <a:r>
              <a:rPr dirty="0"/>
              <a:t>. (1분)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이 </a:t>
            </a:r>
            <a:r>
              <a:rPr dirty="0" err="1"/>
              <a:t>표가</a:t>
            </a:r>
            <a:r>
              <a:rPr dirty="0"/>
              <a:t> </a:t>
            </a:r>
            <a:r>
              <a:rPr dirty="0" err="1"/>
              <a:t>발표의</a:t>
            </a:r>
            <a:r>
              <a:rPr dirty="0"/>
              <a:t> </a:t>
            </a:r>
            <a:r>
              <a:rPr dirty="0" err="1"/>
              <a:t>핵심</a:t>
            </a:r>
            <a:r>
              <a:rPr dirty="0"/>
              <a:t> 한 장. "왜 6점이냐"가 </a:t>
            </a:r>
            <a:r>
              <a:rPr dirty="0" err="1"/>
              <a:t>아니라</a:t>
            </a:r>
            <a:r>
              <a:rPr dirty="0"/>
              <a:t> "</a:t>
            </a:r>
            <a:r>
              <a:rPr dirty="0" err="1"/>
              <a:t>어느</a:t>
            </a:r>
            <a:r>
              <a:rPr dirty="0"/>
              <a:t> </a:t>
            </a:r>
            <a:r>
              <a:rPr dirty="0" err="1"/>
              <a:t>전제가</a:t>
            </a:r>
            <a:r>
              <a:rPr dirty="0"/>
              <a:t> </a:t>
            </a:r>
            <a:r>
              <a:rPr dirty="0" err="1"/>
              <a:t>깨졌느냐"로</a:t>
            </a:r>
            <a:r>
              <a:rPr dirty="0"/>
              <a:t> </a:t>
            </a:r>
            <a:r>
              <a:rPr dirty="0" err="1"/>
              <a:t>답한다</a:t>
            </a:r>
            <a:r>
              <a:rPr dirty="0"/>
              <a:t>. </a:t>
            </a:r>
            <a:r>
              <a:rPr dirty="0" err="1"/>
              <a:t>예시</a:t>
            </a:r>
            <a:r>
              <a:rPr dirty="0"/>
              <a:t> </a:t>
            </a:r>
            <a:r>
              <a:rPr dirty="0" err="1"/>
              <a:t>하나</a:t>
            </a:r>
            <a:r>
              <a:rPr dirty="0"/>
              <a:t>: "</a:t>
            </a:r>
            <a:r>
              <a:rPr dirty="0" err="1"/>
              <a:t>유상증자는</a:t>
            </a:r>
            <a:r>
              <a:rPr dirty="0"/>
              <a:t> </a:t>
            </a:r>
            <a:r>
              <a:rPr dirty="0" err="1"/>
              <a:t>회사가</a:t>
            </a:r>
            <a:r>
              <a:rPr dirty="0"/>
              <a:t> </a:t>
            </a:r>
            <a:r>
              <a:rPr dirty="0" err="1"/>
              <a:t>원해서가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상황이</a:t>
            </a:r>
            <a:r>
              <a:rPr dirty="0"/>
              <a:t> </a:t>
            </a:r>
            <a:r>
              <a:rPr dirty="0" err="1"/>
              <a:t>강제한</a:t>
            </a:r>
            <a:r>
              <a:rPr dirty="0"/>
              <a:t> </a:t>
            </a:r>
            <a:r>
              <a:rPr dirty="0" err="1"/>
              <a:t>자금</a:t>
            </a:r>
            <a:r>
              <a:rPr dirty="0"/>
              <a:t> </a:t>
            </a:r>
            <a:r>
              <a:rPr dirty="0" err="1"/>
              <a:t>변화라</a:t>
            </a:r>
            <a:r>
              <a:rPr dirty="0"/>
              <a:t> </a:t>
            </a:r>
            <a:r>
              <a:rPr dirty="0" err="1"/>
              <a:t>중간</a:t>
            </a:r>
            <a:r>
              <a:rPr dirty="0"/>
              <a:t> </a:t>
            </a:r>
            <a:r>
              <a:rPr dirty="0" err="1"/>
              <a:t>상위</a:t>
            </a:r>
            <a:r>
              <a:rPr dirty="0"/>
              <a:t>, </a:t>
            </a:r>
            <a:r>
              <a:rPr dirty="0" err="1"/>
              <a:t>시설투자는</a:t>
            </a:r>
            <a:r>
              <a:rPr dirty="0"/>
              <a:t> </a:t>
            </a:r>
            <a:r>
              <a:rPr dirty="0" err="1"/>
              <a:t>회사가</a:t>
            </a:r>
            <a:r>
              <a:rPr dirty="0"/>
              <a:t> </a:t>
            </a:r>
            <a:r>
              <a:rPr dirty="0" err="1"/>
              <a:t>계획한</a:t>
            </a:r>
            <a:r>
              <a:rPr dirty="0"/>
              <a:t> </a:t>
            </a:r>
            <a:r>
              <a:rPr dirty="0" err="1"/>
              <a:t>행동이라</a:t>
            </a:r>
            <a:r>
              <a:rPr dirty="0"/>
              <a:t> </a:t>
            </a:r>
            <a:r>
              <a:rPr dirty="0" err="1"/>
              <a:t>중간</a:t>
            </a:r>
            <a:r>
              <a:rPr dirty="0"/>
              <a:t> </a:t>
            </a:r>
            <a:r>
              <a:rPr dirty="0" err="1"/>
              <a:t>하위입니다</a:t>
            </a:r>
            <a:r>
              <a:rPr dirty="0"/>
              <a:t>." </a:t>
            </a:r>
            <a:r>
              <a:rPr dirty="0" err="1"/>
              <a:t>마지막에</a:t>
            </a:r>
            <a:r>
              <a:rPr dirty="0"/>
              <a:t> "</a:t>
            </a:r>
            <a:r>
              <a:rPr dirty="0" err="1"/>
              <a:t>점수를</a:t>
            </a:r>
            <a:r>
              <a:rPr dirty="0"/>
              <a:t> </a:t>
            </a:r>
            <a:r>
              <a:rPr dirty="0" err="1"/>
              <a:t>더하지</a:t>
            </a:r>
            <a:r>
              <a:rPr dirty="0"/>
              <a:t> </a:t>
            </a:r>
            <a:r>
              <a:rPr dirty="0" err="1"/>
              <a:t>않습니다</a:t>
            </a:r>
            <a:r>
              <a:rPr dirty="0"/>
              <a:t>." (1분 30초)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세 </a:t>
            </a:r>
            <a:r>
              <a:rPr dirty="0" err="1"/>
              <a:t>문장</a:t>
            </a:r>
            <a:r>
              <a:rPr dirty="0"/>
              <a:t>: "</a:t>
            </a:r>
            <a:r>
              <a:rPr dirty="0" err="1"/>
              <a:t>처음엔</a:t>
            </a:r>
            <a:r>
              <a:rPr dirty="0"/>
              <a:t> </a:t>
            </a:r>
            <a:r>
              <a:rPr dirty="0" err="1"/>
              <a:t>점수를</a:t>
            </a:r>
            <a:r>
              <a:rPr dirty="0"/>
              <a:t> </a:t>
            </a:r>
            <a:r>
              <a:rPr dirty="0" err="1"/>
              <a:t>더했습니다</a:t>
            </a:r>
            <a:r>
              <a:rPr dirty="0"/>
              <a:t>. </a:t>
            </a:r>
            <a:r>
              <a:rPr dirty="0" err="1"/>
              <a:t>결과가</a:t>
            </a:r>
            <a:r>
              <a:rPr dirty="0"/>
              <a:t>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중간이었고</a:t>
            </a:r>
            <a:r>
              <a:rPr dirty="0"/>
              <a:t>, </a:t>
            </a:r>
            <a:r>
              <a:rPr dirty="0" err="1"/>
              <a:t>공시</a:t>
            </a:r>
            <a:r>
              <a:rPr dirty="0"/>
              <a:t> </a:t>
            </a:r>
            <a:r>
              <a:rPr dirty="0" err="1"/>
              <a:t>많은</a:t>
            </a:r>
            <a:r>
              <a:rPr dirty="0"/>
              <a:t> </a:t>
            </a:r>
            <a:r>
              <a:rPr dirty="0" err="1"/>
              <a:t>회사가</a:t>
            </a:r>
            <a:r>
              <a:rPr dirty="0"/>
              <a:t> 1등이었습니다. 왜 </a:t>
            </a:r>
            <a:r>
              <a:rPr dirty="0" err="1"/>
              <a:t>그런지</a:t>
            </a:r>
            <a:r>
              <a:rPr dirty="0"/>
              <a:t> </a:t>
            </a:r>
            <a:r>
              <a:rPr dirty="0" err="1"/>
              <a:t>보니</a:t>
            </a:r>
            <a:r>
              <a:rPr dirty="0"/>
              <a:t> </a:t>
            </a:r>
            <a:r>
              <a:rPr dirty="0" err="1"/>
              <a:t>같은</a:t>
            </a:r>
            <a:r>
              <a:rPr dirty="0"/>
              <a:t> </a:t>
            </a:r>
            <a:r>
              <a:rPr dirty="0" err="1"/>
              <a:t>원인이</a:t>
            </a:r>
            <a:r>
              <a:rPr dirty="0"/>
              <a:t> 세 번 </a:t>
            </a:r>
            <a:r>
              <a:rPr dirty="0" err="1"/>
              <a:t>세어지고</a:t>
            </a:r>
            <a:r>
              <a:rPr dirty="0"/>
              <a:t> </a:t>
            </a:r>
            <a:r>
              <a:rPr dirty="0" err="1"/>
              <a:t>있었습니다</a:t>
            </a:r>
            <a:r>
              <a:rPr dirty="0"/>
              <a:t>." PRD </a:t>
            </a:r>
            <a:r>
              <a:rPr dirty="0" err="1"/>
              <a:t>가설을</a:t>
            </a:r>
            <a:r>
              <a:rPr dirty="0"/>
              <a:t> </a:t>
            </a:r>
            <a:r>
              <a:rPr dirty="0" err="1"/>
              <a:t>스스로</a:t>
            </a:r>
            <a:r>
              <a:rPr dirty="0"/>
              <a:t> </a:t>
            </a:r>
            <a:r>
              <a:rPr dirty="0" err="1"/>
              <a:t>기각하고</a:t>
            </a:r>
            <a:r>
              <a:rPr dirty="0"/>
              <a:t> </a:t>
            </a:r>
            <a:r>
              <a:rPr dirty="0" err="1"/>
              <a:t>고쳤다는</a:t>
            </a:r>
            <a:r>
              <a:rPr dirty="0"/>
              <a:t> 게 </a:t>
            </a:r>
            <a:r>
              <a:rPr dirty="0" err="1"/>
              <a:t>평가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. (1분)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 화면으로 전환. 순서: 검토일 선택 → 상단 KPI → 1위 카드 읽기 → 기업별 사유 막대 → 정정공시 표에서 해설 열기. 2분 안에. 화면이 안 열리면 이 캡처로 같은 순서를 말한다. "AI는 계산하지 않습니다"를 해설 열 때 한 번. (2분)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'비교축 4분리'와 'ECOS를 점수에 안 넣는 이유' 두 가지를 말한다. 둘 다 심사역이 묻기 전에 먼저 답하는 항목. (1분)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한 문장: "BI는 공유와 집계에 강하지만 조회 전용이고 시각화도 BI가 주는 틀 안에서만 됩니다. 그래서 분석 실행과 사용자가 파고드는 부분은 웹으로 따로 설계했습니다." BI를 깎는 게 아니라 역할을 나눈 것으로 말한다. 시연은 웹으로 이어서 하면 자연스럽다. (1분)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"긴급 공시는 담당자가 대시보드를 열 때까지 기다리면 늦습니다. 10분마다 DB를 확인해서 긴급 건만 Discord로 밀어 줍니다." 중복 방지가 포인트. n8n은 판정하지 않는다는 점을 꼭 덧붙인다. (1분)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실물 캡처라 신뢰가 간다. "판정 근거와 원문 링크가 메시지 안에 있어서 바로 확인할 수 있습니다." 면책 문구를 넣은 이유도 한마디 — "투자 판단을 대신하지 않는다고 메시지에 적어 뒀습니다." (45초)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"</a:t>
            </a:r>
            <a:r>
              <a:rPr dirty="0" err="1"/>
              <a:t>제출본으로</a:t>
            </a:r>
            <a:r>
              <a:rPr dirty="0"/>
              <a:t> </a:t>
            </a:r>
            <a:r>
              <a:rPr dirty="0" err="1"/>
              <a:t>돌리면</a:t>
            </a:r>
            <a:r>
              <a:rPr dirty="0"/>
              <a:t> </a:t>
            </a:r>
            <a:r>
              <a:rPr dirty="0" err="1"/>
              <a:t>전부</a:t>
            </a:r>
            <a:r>
              <a:rPr dirty="0"/>
              <a:t> </a:t>
            </a:r>
            <a:r>
              <a:rPr dirty="0" err="1"/>
              <a:t>중간</a:t>
            </a:r>
            <a:r>
              <a:rPr dirty="0"/>
              <a:t>, </a:t>
            </a:r>
            <a:r>
              <a:rPr dirty="0" err="1"/>
              <a:t>최종으로</a:t>
            </a:r>
            <a:r>
              <a:rPr dirty="0"/>
              <a:t> </a:t>
            </a:r>
            <a:r>
              <a:rPr dirty="0" err="1"/>
              <a:t>돌리면</a:t>
            </a:r>
            <a:r>
              <a:rPr dirty="0"/>
              <a:t> </a:t>
            </a:r>
            <a:r>
              <a:rPr dirty="0" err="1"/>
              <a:t>이렇게</a:t>
            </a:r>
            <a:r>
              <a:rPr dirty="0"/>
              <a:t> </a:t>
            </a:r>
            <a:r>
              <a:rPr dirty="0" err="1"/>
              <a:t>갈립니다</a:t>
            </a:r>
            <a:r>
              <a:rPr dirty="0"/>
              <a:t>." 100%의 </a:t>
            </a:r>
            <a:r>
              <a:rPr dirty="0" err="1"/>
              <a:t>뜻을</a:t>
            </a:r>
            <a:r>
              <a:rPr dirty="0"/>
              <a:t> 꼭 한 </a:t>
            </a:r>
            <a:r>
              <a:rPr dirty="0" err="1"/>
              <a:t>문장으로</a:t>
            </a:r>
            <a:r>
              <a:rPr dirty="0"/>
              <a:t>: "</a:t>
            </a:r>
            <a:r>
              <a:rPr dirty="0" err="1"/>
              <a:t>정답률이</a:t>
            </a:r>
            <a:r>
              <a:rPr dirty="0"/>
              <a:t> </a:t>
            </a:r>
            <a:r>
              <a:rPr dirty="0" err="1"/>
              <a:t>아니라</a:t>
            </a:r>
            <a:r>
              <a:rPr dirty="0"/>
              <a:t> </a:t>
            </a:r>
            <a:r>
              <a:rPr dirty="0" err="1"/>
              <a:t>재계산</a:t>
            </a:r>
            <a:r>
              <a:rPr dirty="0"/>
              <a:t> </a:t>
            </a:r>
            <a:r>
              <a:rPr dirty="0" err="1"/>
              <a:t>일치율입니다</a:t>
            </a:r>
            <a:r>
              <a:rPr dirty="0"/>
              <a:t>." 세 </a:t>
            </a:r>
            <a:r>
              <a:rPr dirty="0" err="1"/>
              <a:t>번째</a:t>
            </a:r>
            <a:r>
              <a:rPr dirty="0"/>
              <a:t> </a:t>
            </a:r>
            <a:r>
              <a:rPr dirty="0" err="1"/>
              <a:t>카드의</a:t>
            </a:r>
            <a:r>
              <a:rPr dirty="0"/>
              <a:t> "</a:t>
            </a:r>
            <a:r>
              <a:rPr dirty="0" err="1"/>
              <a:t>AI가</a:t>
            </a:r>
            <a:r>
              <a:rPr dirty="0"/>
              <a:t> </a:t>
            </a:r>
            <a:r>
              <a:rPr dirty="0" err="1"/>
              <a:t>죽어도</a:t>
            </a:r>
            <a:r>
              <a:rPr dirty="0"/>
              <a:t> </a:t>
            </a:r>
            <a:r>
              <a:rPr dirty="0" err="1"/>
              <a:t>본체는</a:t>
            </a:r>
            <a:r>
              <a:rPr dirty="0"/>
              <a:t> </a:t>
            </a:r>
            <a:r>
              <a:rPr dirty="0" err="1"/>
              <a:t>산다"는</a:t>
            </a:r>
            <a:r>
              <a:rPr dirty="0"/>
              <a:t> </a:t>
            </a:r>
            <a:r>
              <a:rPr dirty="0" err="1"/>
              <a:t>현업</a:t>
            </a:r>
            <a:r>
              <a:rPr dirty="0"/>
              <a:t> </a:t>
            </a:r>
            <a:r>
              <a:rPr dirty="0" err="1"/>
              <a:t>적용</a:t>
            </a:r>
            <a:r>
              <a:rPr dirty="0"/>
              <a:t> </a:t>
            </a:r>
            <a:r>
              <a:rPr dirty="0" err="1"/>
              <a:t>관점</a:t>
            </a:r>
            <a:r>
              <a:rPr dirty="0"/>
              <a:t> </a:t>
            </a:r>
            <a:r>
              <a:rPr dirty="0" err="1"/>
              <a:t>포인트</a:t>
            </a:r>
            <a:r>
              <a:rPr dirty="0"/>
              <a:t> — PRD 6번 '</a:t>
            </a:r>
            <a:r>
              <a:rPr dirty="0" err="1"/>
              <a:t>실패</a:t>
            </a:r>
            <a:r>
              <a:rPr dirty="0"/>
              <a:t> </a:t>
            </a:r>
            <a:r>
              <a:rPr dirty="0" err="1"/>
              <a:t>대응</a:t>
            </a:r>
            <a:r>
              <a:rPr dirty="0"/>
              <a:t>' </a:t>
            </a:r>
            <a:r>
              <a:rPr dirty="0" err="1"/>
              <a:t>항목에</a:t>
            </a:r>
            <a:r>
              <a:rPr dirty="0"/>
              <a:t> </a:t>
            </a:r>
            <a:r>
              <a:rPr dirty="0" err="1"/>
              <a:t>대응한다</a:t>
            </a:r>
            <a:r>
              <a:rPr dirty="0"/>
              <a:t>. (1분)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 err="1"/>
              <a:t>왼쪽</a:t>
            </a:r>
            <a:r>
              <a:rPr dirty="0"/>
              <a:t> 위 '</a:t>
            </a:r>
            <a:r>
              <a:rPr dirty="0" err="1"/>
              <a:t>진짜</a:t>
            </a:r>
            <a:r>
              <a:rPr dirty="0"/>
              <a:t> </a:t>
            </a:r>
            <a:r>
              <a:rPr dirty="0" err="1"/>
              <a:t>실시간'만</a:t>
            </a:r>
            <a:r>
              <a:rPr dirty="0"/>
              <a:t> </a:t>
            </a:r>
            <a:r>
              <a:rPr dirty="0" err="1"/>
              <a:t>소리내어</a:t>
            </a:r>
            <a:r>
              <a:rPr dirty="0"/>
              <a:t> </a:t>
            </a:r>
            <a:r>
              <a:rPr dirty="0" err="1"/>
              <a:t>읽는다</a:t>
            </a:r>
            <a:r>
              <a:rPr dirty="0"/>
              <a:t>: "</a:t>
            </a:r>
            <a:r>
              <a:rPr dirty="0" err="1"/>
              <a:t>지금은</a:t>
            </a:r>
            <a:r>
              <a:rPr dirty="0"/>
              <a:t> 10분 </a:t>
            </a:r>
            <a:r>
              <a:rPr dirty="0" err="1"/>
              <a:t>주기인데</a:t>
            </a:r>
            <a:r>
              <a:rPr dirty="0"/>
              <a:t>, </a:t>
            </a:r>
            <a:r>
              <a:rPr dirty="0" err="1"/>
              <a:t>Postgres의</a:t>
            </a:r>
            <a:r>
              <a:rPr dirty="0"/>
              <a:t> LISTEN/</a:t>
            </a:r>
            <a:r>
              <a:rPr dirty="0" err="1"/>
              <a:t>NOTIFY를</a:t>
            </a:r>
            <a:r>
              <a:rPr dirty="0"/>
              <a:t> </a:t>
            </a:r>
            <a:r>
              <a:rPr dirty="0" err="1"/>
              <a:t>쓰면</a:t>
            </a:r>
            <a:r>
              <a:rPr dirty="0"/>
              <a:t> </a:t>
            </a:r>
            <a:r>
              <a:rPr dirty="0" err="1"/>
              <a:t>긴급</a:t>
            </a:r>
            <a:r>
              <a:rPr dirty="0"/>
              <a:t> </a:t>
            </a:r>
            <a:r>
              <a:rPr dirty="0" err="1"/>
              <a:t>이벤트가</a:t>
            </a:r>
            <a:r>
              <a:rPr dirty="0"/>
              <a:t> </a:t>
            </a:r>
            <a:r>
              <a:rPr dirty="0" err="1"/>
              <a:t>쌓이는</a:t>
            </a:r>
            <a:r>
              <a:rPr dirty="0"/>
              <a:t> </a:t>
            </a:r>
            <a:r>
              <a:rPr dirty="0" err="1"/>
              <a:t>순간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쏠 수 </a:t>
            </a:r>
            <a:r>
              <a:rPr dirty="0" err="1"/>
              <a:t>있습니다</a:t>
            </a:r>
            <a:r>
              <a:rPr dirty="0"/>
              <a:t>. </a:t>
            </a:r>
            <a:r>
              <a:rPr dirty="0" err="1"/>
              <a:t>긴급확인이</a:t>
            </a:r>
            <a:r>
              <a:rPr dirty="0"/>
              <a:t> </a:t>
            </a:r>
            <a:r>
              <a:rPr dirty="0" err="1"/>
              <a:t>필요한</a:t>
            </a:r>
            <a:r>
              <a:rPr dirty="0"/>
              <a:t> </a:t>
            </a:r>
            <a:r>
              <a:rPr dirty="0" err="1"/>
              <a:t>종목을</a:t>
            </a:r>
            <a:r>
              <a:rPr dirty="0"/>
              <a:t> </a:t>
            </a:r>
            <a:r>
              <a:rPr dirty="0" err="1"/>
              <a:t>실시간으로</a:t>
            </a:r>
            <a:r>
              <a:rPr dirty="0"/>
              <a:t> </a:t>
            </a:r>
            <a:r>
              <a:rPr dirty="0" err="1"/>
              <a:t>찾아서</a:t>
            </a:r>
            <a:r>
              <a:rPr dirty="0"/>
              <a:t> </a:t>
            </a:r>
            <a:r>
              <a:rPr dirty="0" err="1"/>
              <a:t>바로</a:t>
            </a:r>
            <a:r>
              <a:rPr dirty="0"/>
              <a:t> </a:t>
            </a:r>
            <a:r>
              <a:rPr dirty="0" err="1"/>
              <a:t>문자가</a:t>
            </a:r>
            <a:r>
              <a:rPr dirty="0"/>
              <a:t> </a:t>
            </a:r>
            <a:r>
              <a:rPr dirty="0" err="1"/>
              <a:t>가게</a:t>
            </a:r>
            <a:r>
              <a:rPr dirty="0"/>
              <a:t> </a:t>
            </a:r>
            <a:r>
              <a:rPr dirty="0" err="1"/>
              <a:t>만들</a:t>
            </a:r>
            <a:r>
              <a:rPr dirty="0"/>
              <a:t> 수 </a:t>
            </a:r>
            <a:r>
              <a:rPr dirty="0" err="1"/>
              <a:t>있습니다</a:t>
            </a:r>
            <a:r>
              <a:rPr dirty="0"/>
              <a:t>." </a:t>
            </a:r>
            <a:r>
              <a:rPr dirty="0" err="1"/>
              <a:t>나머지</a:t>
            </a:r>
            <a:r>
              <a:rPr dirty="0"/>
              <a:t> </a:t>
            </a:r>
            <a:r>
              <a:rPr dirty="0" err="1"/>
              <a:t>셋은</a:t>
            </a:r>
            <a:r>
              <a:rPr dirty="0"/>
              <a:t> </a:t>
            </a:r>
            <a:r>
              <a:rPr dirty="0" err="1"/>
              <a:t>가리키기만</a:t>
            </a:r>
            <a:r>
              <a:rPr dirty="0"/>
              <a:t>. (1분)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"배운 것 둘"로 끝낸다. 질문 준비: 키워드 분류 한계 / ECOS 점수 미반영 이유 / 100%의 뜻(재계산 일치) / 정정-재무 이중 반영 차단 / 10분 주기인 이유.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6087317" y="2877171"/>
            <a:ext cx="6113367" cy="688646"/>
            <a:chOff x="0" y="0"/>
            <a:chExt cx="1671873" cy="1883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71873" cy="188330"/>
            </a:xfrm>
            <a:custGeom>
              <a:avLst/>
              <a:gdLst/>
              <a:ahLst/>
              <a:cxnLst/>
              <a:rect l="l" t="t" r="r" b="b"/>
              <a:pathLst>
                <a:path w="1671873" h="18833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37674"/>
                  </a:lnTo>
                  <a:cubicBezTo>
                    <a:pt x="1671873" y="165650"/>
                    <a:pt x="1649194" y="188330"/>
                    <a:pt x="1621218" y="188330"/>
                  </a:cubicBezTo>
                  <a:lnTo>
                    <a:pt x="50656" y="188330"/>
                  </a:lnTo>
                  <a:cubicBezTo>
                    <a:pt x="22679" y="188330"/>
                    <a:pt x="0" y="165650"/>
                    <a:pt x="0" y="137674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FE5B8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671873" cy="226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769227" y="3851567"/>
            <a:ext cx="1074954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  <a:spcAft>
                <a:spcPts val="600"/>
              </a:spcAft>
            </a:pPr>
            <a:r>
              <a:rPr sz="7600">
                <a:solidFill>
                  <a:srgbClr val="000000"/>
                </a:solidFill>
                <a:latin typeface="TDTD평고딕"/>
              </a:rPr>
              <a:t>DeltaWatch AI</a:t>
            </a:r>
          </a:p>
        </p:txBody>
      </p:sp>
      <p:grpSp>
        <p:nvGrpSpPr>
          <p:cNvPr id="12" name="Group 12"/>
          <p:cNvGrpSpPr/>
          <p:nvPr/>
        </p:nvGrpSpPr>
        <p:grpSpPr>
          <a:xfrm rot="5400000">
            <a:off x="8392616" y="1620478"/>
            <a:ext cx="1502767" cy="8945812"/>
            <a:chOff x="0" y="0"/>
            <a:chExt cx="419236" cy="2495666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19236" cy="2495666"/>
            </a:xfrm>
            <a:custGeom>
              <a:avLst/>
              <a:gdLst/>
              <a:ahLst/>
              <a:cxnLst/>
              <a:rect l="l" t="t" r="r" b="b"/>
              <a:pathLst>
                <a:path w="419236" h="2495666">
                  <a:moveTo>
                    <a:pt x="10304" y="0"/>
                  </a:moveTo>
                  <a:lnTo>
                    <a:pt x="408932" y="0"/>
                  </a:lnTo>
                  <a:cubicBezTo>
                    <a:pt x="411665" y="0"/>
                    <a:pt x="414286" y="1086"/>
                    <a:pt x="416218" y="3018"/>
                  </a:cubicBezTo>
                  <a:cubicBezTo>
                    <a:pt x="418150" y="4950"/>
                    <a:pt x="419236" y="7571"/>
                    <a:pt x="419236" y="10304"/>
                  </a:cubicBezTo>
                  <a:lnTo>
                    <a:pt x="419236" y="2485363"/>
                  </a:lnTo>
                  <a:cubicBezTo>
                    <a:pt x="419236" y="2488096"/>
                    <a:pt x="418150" y="2490716"/>
                    <a:pt x="416218" y="2492649"/>
                  </a:cubicBezTo>
                  <a:cubicBezTo>
                    <a:pt x="414286" y="2494581"/>
                    <a:pt x="411665" y="2495666"/>
                    <a:pt x="408932" y="2495666"/>
                  </a:cubicBezTo>
                  <a:lnTo>
                    <a:pt x="10304" y="2495666"/>
                  </a:lnTo>
                  <a:cubicBezTo>
                    <a:pt x="7571" y="2495666"/>
                    <a:pt x="4950" y="2494581"/>
                    <a:pt x="3018" y="2492649"/>
                  </a:cubicBezTo>
                  <a:cubicBezTo>
                    <a:pt x="1086" y="2490716"/>
                    <a:pt x="0" y="2488096"/>
                    <a:pt x="0" y="2485363"/>
                  </a:cubicBezTo>
                  <a:lnTo>
                    <a:pt x="0" y="10304"/>
                  </a:lnTo>
                  <a:cubicBezTo>
                    <a:pt x="0" y="7571"/>
                    <a:pt x="1086" y="4950"/>
                    <a:pt x="3018" y="3018"/>
                  </a:cubicBezTo>
                  <a:cubicBezTo>
                    <a:pt x="4950" y="1086"/>
                    <a:pt x="7571" y="0"/>
                    <a:pt x="10304" y="0"/>
                  </a:cubicBezTo>
                  <a:close/>
                </a:path>
              </a:pathLst>
            </a:custGeom>
            <a:solidFill>
              <a:srgbClr val="FFFFFF"/>
            </a:solidFill>
            <a:ln w="47625" cap="sq">
              <a:solidFill>
                <a:srgbClr val="000000"/>
              </a:solidFill>
              <a:prstDash val="dash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419236" cy="2524241"/>
            </a:xfrm>
            <a:prstGeom prst="rect">
              <a:avLst/>
            </a:prstGeom>
          </p:spPr>
          <p:txBody>
            <a:bodyPr lIns="50148" tIns="50148" rIns="50148" bIns="50148" rtlCol="0" anchor="ctr"/>
            <a:lstStyle/>
            <a:p>
              <a:pPr marL="0" lvl="0" indent="0" algn="ctr">
                <a:lnSpc>
                  <a:spcPts val="161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5534352" y="5398059"/>
            <a:ext cx="7219297" cy="1381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800"/>
              </a:lnSpc>
              <a:spcAft>
                <a:spcPts val="600"/>
              </a:spcAft>
            </a:pPr>
            <a:r>
              <a:rPr sz="6400">
                <a:solidFill>
                  <a:srgbClr val="000000"/>
                </a:solidFill>
                <a:latin typeface="TDTD평고딕"/>
              </a:rPr>
              <a:t>기업 변화 탐지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94230" y="3035756"/>
            <a:ext cx="4899540" cy="371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73"/>
              </a:lnSpc>
              <a:spcBef>
                <a:spcPct val="0"/>
              </a:spcBef>
              <a:spcAft>
                <a:spcPts val="600"/>
              </a:spcAft>
            </a:pPr>
            <a:r>
              <a:rPr sz="2000" b="1">
                <a:solidFill>
                  <a:srgbClr val="000000"/>
                </a:solidFill>
                <a:latin typeface="Lato Bold"/>
              </a:rPr>
              <a:t>FINANCIAL DATA AI AGENT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51791" y="8121650"/>
            <a:ext cx="658441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Aft>
                <a:spcPts val="600"/>
              </a:spcAft>
            </a:pPr>
            <a:r>
              <a:rPr sz="2000">
                <a:solidFill>
                  <a:srgbClr val="000000"/>
                </a:solidFill>
                <a:latin typeface="윤고딕 Semi-Bold"/>
              </a:rPr>
              <a:t>강민지 · 권지은 · 김창우 · 허준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885350" y="7089888"/>
            <a:ext cx="8517301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윤고딕 Semi-Bold"/>
              </a:rPr>
              <a:t>“전체를 다시 읽지 말고, 이번에 달라진 것부터.”</a:t>
            </a:r>
          </a:p>
        </p:txBody>
      </p:sp>
      <p:sp>
        <p:nvSpPr>
          <p:cNvPr id="19" name="Freeform 19"/>
          <p:cNvSpPr/>
          <p:nvPr/>
        </p:nvSpPr>
        <p:spPr>
          <a:xfrm rot="-886511">
            <a:off x="13048058" y="6441390"/>
            <a:ext cx="471414" cy="825232"/>
          </a:xfrm>
          <a:custGeom>
            <a:avLst/>
            <a:gdLst/>
            <a:ahLst/>
            <a:cxnLst/>
            <a:rect l="l" t="t" r="r" b="b"/>
            <a:pathLst>
              <a:path w="471414" h="825232">
                <a:moveTo>
                  <a:pt x="0" y="0"/>
                </a:moveTo>
                <a:lnTo>
                  <a:pt x="471414" y="0"/>
                </a:lnTo>
                <a:lnTo>
                  <a:pt x="471414" y="825232"/>
                </a:lnTo>
                <a:lnTo>
                  <a:pt x="0" y="8252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4885350" y="2180033"/>
            <a:ext cx="8517301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600">
                <a:solidFill>
                  <a:srgbClr val="000000"/>
                </a:solidFill>
                <a:latin typeface="TDTD평고딕"/>
              </a:rPr>
              <a:t>목차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2764990" y="4072181"/>
            <a:ext cx="6113367" cy="762000"/>
            <a:chOff x="0" y="0"/>
            <a:chExt cx="1671873" cy="2083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764990" y="5424731"/>
            <a:ext cx="6113367" cy="762000"/>
            <a:chOff x="0" y="0"/>
            <a:chExt cx="1671873" cy="20839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116998" y="4207436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116998" y="5559986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95202" y="420870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TDTD평고딕"/>
              </a:rPr>
              <a:t>한 장 요약 · 문제 정의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95202" y="556125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TDTD평고딕"/>
              </a:rPr>
              <a:t>재검토 우선순위 Rule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409644" y="4072181"/>
            <a:ext cx="6113367" cy="762000"/>
            <a:chOff x="0" y="0"/>
            <a:chExt cx="1671873" cy="2083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409644" y="5424731"/>
            <a:ext cx="6113367" cy="762000"/>
            <a:chOff x="0" y="0"/>
            <a:chExt cx="1671873" cy="20839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9761652" y="4207436"/>
            <a:ext cx="924278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02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761652" y="5559986"/>
            <a:ext cx="924278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04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939856" y="420870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TDTD평고딕"/>
              </a:rPr>
              <a:t>데이터 파이프라인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939856" y="556125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TDTD평고딕"/>
              </a:rPr>
              <a:t>Power BI · 웹 대시보드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2764990" y="6777281"/>
            <a:ext cx="6113367" cy="762000"/>
            <a:chOff x="0" y="0"/>
            <a:chExt cx="1671873" cy="20839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3116998" y="6912536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4295202" y="691380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TDTD평고딕"/>
              </a:rPr>
              <a:t>n8n 긴급 알림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409644" y="6777281"/>
            <a:ext cx="6113367" cy="762000"/>
            <a:chOff x="0" y="0"/>
            <a:chExt cx="1671873" cy="20839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671873" cy="208390"/>
            </a:xfrm>
            <a:custGeom>
              <a:avLst/>
              <a:gdLst/>
              <a:ahLst/>
              <a:cxnLst/>
              <a:rect l="l" t="t" r="r" b="b"/>
              <a:pathLst>
                <a:path w="1671873" h="208390">
                  <a:moveTo>
                    <a:pt x="50656" y="0"/>
                  </a:moveTo>
                  <a:lnTo>
                    <a:pt x="1621218" y="0"/>
                  </a:lnTo>
                  <a:cubicBezTo>
                    <a:pt x="1634652" y="0"/>
                    <a:pt x="1647537" y="5337"/>
                    <a:pt x="1657037" y="14837"/>
                  </a:cubicBezTo>
                  <a:cubicBezTo>
                    <a:pt x="1666536" y="24336"/>
                    <a:pt x="1671873" y="37221"/>
                    <a:pt x="1671873" y="50656"/>
                  </a:cubicBezTo>
                  <a:lnTo>
                    <a:pt x="1671873" y="157735"/>
                  </a:lnTo>
                  <a:cubicBezTo>
                    <a:pt x="1671873" y="185711"/>
                    <a:pt x="1649194" y="208390"/>
                    <a:pt x="1621218" y="208390"/>
                  </a:cubicBezTo>
                  <a:lnTo>
                    <a:pt x="50656" y="208390"/>
                  </a:lnTo>
                  <a:cubicBezTo>
                    <a:pt x="22679" y="208390"/>
                    <a:pt x="0" y="185711"/>
                    <a:pt x="0" y="157735"/>
                  </a:cubicBezTo>
                  <a:lnTo>
                    <a:pt x="0" y="50656"/>
                  </a:lnTo>
                  <a:cubicBezTo>
                    <a:pt x="0" y="22679"/>
                    <a:pt x="22679" y="0"/>
                    <a:pt x="50656" y="0"/>
                  </a:cubicBezTo>
                  <a:close/>
                </a:path>
              </a:pathLst>
            </a:custGeom>
            <a:solidFill>
              <a:srgbClr val="FEF9DC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38100"/>
              <a:ext cx="1671873" cy="2464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9761652" y="6912536"/>
            <a:ext cx="924278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06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939856" y="6913807"/>
            <a:ext cx="4416220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Aft>
                <a:spcPts val="600"/>
              </a:spcAft>
            </a:pPr>
            <a:r>
              <a:rPr sz="2200">
                <a:solidFill>
                  <a:srgbClr val="000000"/>
                </a:solidFill>
                <a:latin typeface="TDTD평고딕"/>
              </a:rPr>
              <a:t>결과 · 한계 · 확장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89888" y="1946945"/>
            <a:ext cx="15508224" cy="7493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 dirty="0">
                <a:solidFill>
                  <a:srgbClr val="000000"/>
                </a:solidFill>
                <a:latin typeface="TDTD평고딕"/>
              </a:rPr>
              <a:t> </a:t>
            </a:r>
            <a:r>
              <a:rPr lang="ko-KR" altLang="en-US" sz="4000" dirty="0">
                <a:solidFill>
                  <a:srgbClr val="000000"/>
                </a:solidFill>
                <a:latin typeface="TDTD평고딕" panose="020B0600000101010101" charset="-127"/>
                <a:ea typeface="TDTD평고딕" panose="020B0600000101010101" charset="-127"/>
              </a:rPr>
              <a:t>무엇이</a:t>
            </a:r>
            <a:r>
              <a:rPr lang="ko-KR" altLang="en-US" sz="4000" dirty="0">
                <a:solidFill>
                  <a:srgbClr val="000000"/>
                </a:solidFill>
                <a:latin typeface="TDTD평고딕"/>
              </a:rPr>
              <a:t> </a:t>
            </a:r>
            <a:r>
              <a:rPr sz="4000" dirty="0" err="1">
                <a:solidFill>
                  <a:srgbClr val="000000"/>
                </a:solidFill>
                <a:latin typeface="TDTD평고딕"/>
              </a:rPr>
              <a:t>바뀌었는지</a:t>
            </a:r>
            <a:r>
              <a:rPr sz="4000" dirty="0">
                <a:solidFill>
                  <a:srgbClr val="000000"/>
                </a:solidFill>
                <a:latin typeface="TDTD평고딕"/>
              </a:rPr>
              <a:t> </a:t>
            </a:r>
            <a:r>
              <a:rPr sz="4000" dirty="0" err="1">
                <a:solidFill>
                  <a:srgbClr val="000000"/>
                </a:solidFill>
                <a:latin typeface="TDTD평고딕"/>
              </a:rPr>
              <a:t>다시</a:t>
            </a:r>
            <a:r>
              <a:rPr sz="4000" dirty="0">
                <a:solidFill>
                  <a:srgbClr val="000000"/>
                </a:solidFill>
                <a:latin typeface="TDTD평고딕"/>
              </a:rPr>
              <a:t> </a:t>
            </a:r>
            <a:r>
              <a:rPr sz="4000" dirty="0" err="1">
                <a:solidFill>
                  <a:srgbClr val="000000"/>
                </a:solidFill>
                <a:latin typeface="TDTD평고딕"/>
              </a:rPr>
              <a:t>찾지</a:t>
            </a:r>
            <a:r>
              <a:rPr sz="4000" dirty="0">
                <a:solidFill>
                  <a:srgbClr val="000000"/>
                </a:solidFill>
                <a:latin typeface="TDTD평고딕"/>
              </a:rPr>
              <a:t> </a:t>
            </a:r>
            <a:r>
              <a:rPr sz="4000" dirty="0" err="1">
                <a:solidFill>
                  <a:srgbClr val="000000"/>
                </a:solidFill>
                <a:latin typeface="TDTD평고딕"/>
              </a:rPr>
              <a:t>않게</a:t>
            </a:r>
            <a:r>
              <a:rPr sz="4000" dirty="0">
                <a:solidFill>
                  <a:srgbClr val="000000"/>
                </a:solidFill>
                <a:latin typeface="TDTD평고딕"/>
              </a:rPr>
              <a:t> </a:t>
            </a:r>
            <a:r>
              <a:rPr sz="4000" dirty="0" err="1">
                <a:solidFill>
                  <a:srgbClr val="000000"/>
                </a:solidFill>
                <a:latin typeface="TDTD평고딕"/>
              </a:rPr>
              <a:t>한다</a:t>
            </a:r>
            <a:endParaRPr sz="4000" dirty="0">
              <a:solidFill>
                <a:srgbClr val="000000"/>
              </a:solidFill>
              <a:latin typeface="TDTD평고딕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2104513" y="4650656"/>
            <a:ext cx="4286250" cy="3629614"/>
            <a:chOff x="0" y="0"/>
            <a:chExt cx="316703" cy="2681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6703" cy="268185"/>
            </a:xfrm>
            <a:custGeom>
              <a:avLst/>
              <a:gdLst/>
              <a:ahLst/>
              <a:cxnLst/>
              <a:rect l="l" t="t" r="r" b="b"/>
              <a:pathLst>
                <a:path w="316703" h="268185">
                  <a:moveTo>
                    <a:pt x="36124" y="0"/>
                  </a:moveTo>
                  <a:lnTo>
                    <a:pt x="280578" y="0"/>
                  </a:lnTo>
                  <a:cubicBezTo>
                    <a:pt x="290159" y="0"/>
                    <a:pt x="299348" y="3806"/>
                    <a:pt x="306122" y="10581"/>
                  </a:cubicBezTo>
                  <a:cubicBezTo>
                    <a:pt x="312897" y="17355"/>
                    <a:pt x="316703" y="26544"/>
                    <a:pt x="316703" y="36124"/>
                  </a:cubicBezTo>
                  <a:lnTo>
                    <a:pt x="316703" y="232061"/>
                  </a:lnTo>
                  <a:cubicBezTo>
                    <a:pt x="316703" y="241642"/>
                    <a:pt x="312897" y="250830"/>
                    <a:pt x="306122" y="257605"/>
                  </a:cubicBezTo>
                  <a:cubicBezTo>
                    <a:pt x="299348" y="264379"/>
                    <a:pt x="290159" y="268185"/>
                    <a:pt x="280578" y="268185"/>
                  </a:cubicBezTo>
                  <a:lnTo>
                    <a:pt x="36124" y="268185"/>
                  </a:lnTo>
                  <a:cubicBezTo>
                    <a:pt x="26544" y="268185"/>
                    <a:pt x="17355" y="264379"/>
                    <a:pt x="10581" y="257605"/>
                  </a:cubicBezTo>
                  <a:cubicBezTo>
                    <a:pt x="3806" y="250830"/>
                    <a:pt x="0" y="241642"/>
                    <a:pt x="0" y="232061"/>
                  </a:cubicBezTo>
                  <a:lnTo>
                    <a:pt x="0" y="36124"/>
                  </a:lnTo>
                  <a:cubicBezTo>
                    <a:pt x="0" y="26544"/>
                    <a:pt x="3806" y="17355"/>
                    <a:pt x="10581" y="10581"/>
                  </a:cubicBezTo>
                  <a:cubicBezTo>
                    <a:pt x="17355" y="3806"/>
                    <a:pt x="26544" y="0"/>
                    <a:pt x="36124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16703" cy="306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01898" y="4650656"/>
            <a:ext cx="4286250" cy="3629614"/>
            <a:chOff x="0" y="0"/>
            <a:chExt cx="316703" cy="2681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6703" cy="268185"/>
            </a:xfrm>
            <a:custGeom>
              <a:avLst/>
              <a:gdLst/>
              <a:ahLst/>
              <a:cxnLst/>
              <a:rect l="l" t="t" r="r" b="b"/>
              <a:pathLst>
                <a:path w="316703" h="268185">
                  <a:moveTo>
                    <a:pt x="36124" y="0"/>
                  </a:moveTo>
                  <a:lnTo>
                    <a:pt x="280578" y="0"/>
                  </a:lnTo>
                  <a:cubicBezTo>
                    <a:pt x="290159" y="0"/>
                    <a:pt x="299348" y="3806"/>
                    <a:pt x="306122" y="10581"/>
                  </a:cubicBezTo>
                  <a:cubicBezTo>
                    <a:pt x="312897" y="17355"/>
                    <a:pt x="316703" y="26544"/>
                    <a:pt x="316703" y="36124"/>
                  </a:cubicBezTo>
                  <a:lnTo>
                    <a:pt x="316703" y="232061"/>
                  </a:lnTo>
                  <a:cubicBezTo>
                    <a:pt x="316703" y="241642"/>
                    <a:pt x="312897" y="250830"/>
                    <a:pt x="306122" y="257605"/>
                  </a:cubicBezTo>
                  <a:cubicBezTo>
                    <a:pt x="299348" y="264379"/>
                    <a:pt x="290159" y="268185"/>
                    <a:pt x="280578" y="268185"/>
                  </a:cubicBezTo>
                  <a:lnTo>
                    <a:pt x="36124" y="268185"/>
                  </a:lnTo>
                  <a:cubicBezTo>
                    <a:pt x="26544" y="268185"/>
                    <a:pt x="17355" y="264379"/>
                    <a:pt x="10581" y="257605"/>
                  </a:cubicBezTo>
                  <a:cubicBezTo>
                    <a:pt x="3806" y="250830"/>
                    <a:pt x="0" y="241642"/>
                    <a:pt x="0" y="232061"/>
                  </a:cubicBezTo>
                  <a:lnTo>
                    <a:pt x="0" y="36124"/>
                  </a:lnTo>
                  <a:cubicBezTo>
                    <a:pt x="0" y="26544"/>
                    <a:pt x="3806" y="17355"/>
                    <a:pt x="10581" y="10581"/>
                  </a:cubicBezTo>
                  <a:cubicBezTo>
                    <a:pt x="17355" y="3806"/>
                    <a:pt x="26544" y="0"/>
                    <a:pt x="36124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16703" cy="306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99795" y="4650656"/>
            <a:ext cx="4286250" cy="3629614"/>
            <a:chOff x="0" y="0"/>
            <a:chExt cx="316703" cy="2681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6703" cy="268185"/>
            </a:xfrm>
            <a:custGeom>
              <a:avLst/>
              <a:gdLst/>
              <a:ahLst/>
              <a:cxnLst/>
              <a:rect l="l" t="t" r="r" b="b"/>
              <a:pathLst>
                <a:path w="316703" h="268185">
                  <a:moveTo>
                    <a:pt x="36124" y="0"/>
                  </a:moveTo>
                  <a:lnTo>
                    <a:pt x="280578" y="0"/>
                  </a:lnTo>
                  <a:cubicBezTo>
                    <a:pt x="290159" y="0"/>
                    <a:pt x="299348" y="3806"/>
                    <a:pt x="306122" y="10581"/>
                  </a:cubicBezTo>
                  <a:cubicBezTo>
                    <a:pt x="312897" y="17355"/>
                    <a:pt x="316703" y="26544"/>
                    <a:pt x="316703" y="36124"/>
                  </a:cubicBezTo>
                  <a:lnTo>
                    <a:pt x="316703" y="232061"/>
                  </a:lnTo>
                  <a:cubicBezTo>
                    <a:pt x="316703" y="241642"/>
                    <a:pt x="312897" y="250830"/>
                    <a:pt x="306122" y="257605"/>
                  </a:cubicBezTo>
                  <a:cubicBezTo>
                    <a:pt x="299348" y="264379"/>
                    <a:pt x="290159" y="268185"/>
                    <a:pt x="280578" y="268185"/>
                  </a:cubicBezTo>
                  <a:lnTo>
                    <a:pt x="36124" y="268185"/>
                  </a:lnTo>
                  <a:cubicBezTo>
                    <a:pt x="26544" y="268185"/>
                    <a:pt x="17355" y="264379"/>
                    <a:pt x="10581" y="257605"/>
                  </a:cubicBezTo>
                  <a:cubicBezTo>
                    <a:pt x="3806" y="250830"/>
                    <a:pt x="0" y="241642"/>
                    <a:pt x="0" y="232061"/>
                  </a:cubicBezTo>
                  <a:lnTo>
                    <a:pt x="0" y="36124"/>
                  </a:lnTo>
                  <a:cubicBezTo>
                    <a:pt x="0" y="26544"/>
                    <a:pt x="3806" y="17355"/>
                    <a:pt x="10581" y="10581"/>
                  </a:cubicBezTo>
                  <a:cubicBezTo>
                    <a:pt x="17355" y="3806"/>
                    <a:pt x="26544" y="0"/>
                    <a:pt x="36124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16703" cy="306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336824" y="5628504"/>
            <a:ext cx="3818558" cy="178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0"/>
              </a:lnSpc>
              <a:spcBef>
                <a:spcPct val="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관심기업 16개사</a:t>
            </a:r>
          </a:p>
          <a:p>
            <a:pPr algn="ctr"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마지막 검토일 2026-04-01</a:t>
            </a:r>
          </a:p>
          <a:p>
            <a:pPr algn="ctr"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OpenDART 공시 · 원문 · 재무</a:t>
            </a:r>
          </a:p>
          <a:p>
            <a:pPr algn="ctr"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ECOS 기준금리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5745" y="5628504"/>
            <a:ext cx="3818558" cy="178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0"/>
              </a:lnSpc>
              <a:spcBef>
                <a:spcPct val="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검토일 이후 바뀐 것만 골라내고</a:t>
            </a:r>
          </a:p>
          <a:p>
            <a:pPr algn="ctr"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Rule로 심각도 등급을 매기고</a:t>
            </a:r>
          </a:p>
          <a:p>
            <a:pPr algn="ctr"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정정은 전·후를 나란히,</a:t>
            </a:r>
          </a:p>
          <a:p>
            <a:pPr algn="ctr"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원문 근거를 붙여 설명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33642" y="5628504"/>
            <a:ext cx="3818558" cy="178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0"/>
              </a:lnSpc>
              <a:spcBef>
                <a:spcPct val="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오늘 먼저 열어볼 기업 순서</a:t>
            </a:r>
          </a:p>
          <a:p>
            <a:pPr algn="ctr"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그 기업을 왜 봐야 하는지 한 문장</a:t>
            </a:r>
          </a:p>
          <a:p>
            <a:pPr algn="ctr"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무엇이 어떻게 바뀌었는지 + 근거</a:t>
            </a:r>
          </a:p>
          <a:p>
            <a:pPr algn="ctr"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긴급 건은 Discord로 바로 알림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104513" y="4394669"/>
            <a:ext cx="4287785" cy="688646"/>
            <a:chOff x="0" y="0"/>
            <a:chExt cx="1172616" cy="18833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72616" cy="188330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172616" cy="226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00107" y="4394669"/>
            <a:ext cx="4287785" cy="688646"/>
            <a:chOff x="0" y="0"/>
            <a:chExt cx="1172616" cy="18833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72616" cy="188330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172616" cy="226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97748" y="4394669"/>
            <a:ext cx="4287785" cy="688646"/>
            <a:chOff x="0" y="0"/>
            <a:chExt cx="1172616" cy="18833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72616" cy="188330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172616" cy="226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133642" y="4494517"/>
            <a:ext cx="3818558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  <a:latin typeface="TDTD평고딕"/>
              </a:rPr>
              <a:t>나오는 것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35745" y="4494517"/>
            <a:ext cx="3818558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  <a:latin typeface="TDTD평고딕"/>
              </a:rPr>
              <a:t>하는 것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36824" y="4494517"/>
            <a:ext cx="3818558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  <a:latin typeface="TDTD평고딕"/>
              </a:rPr>
              <a:t>넣는 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01. 한 장 요약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9144000"/>
            <a:ext cx="4288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윤고딕"/>
              </a:rPr>
              <a:t>모니터링 중인 관심기업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9144000"/>
            <a:ext cx="4288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윤고딕"/>
              </a:rPr>
              <a:t>검토일 이후 재무 Rule 발동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96344" y="9144000"/>
            <a:ext cx="4288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윤고딕"/>
              </a:rPr>
              <a:t>긴급 — 오늘 가장 먼저 열어볼 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89888" y="1946945"/>
            <a:ext cx="15508224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 dirty="0" err="1">
                <a:solidFill>
                  <a:srgbClr val="000000"/>
                </a:solidFill>
                <a:latin typeface="TDTD평고딕"/>
              </a:rPr>
              <a:t>공시는</a:t>
            </a:r>
            <a:r>
              <a:rPr sz="4000" dirty="0">
                <a:solidFill>
                  <a:srgbClr val="000000"/>
                </a:solidFill>
                <a:latin typeface="TDTD평고딕"/>
              </a:rPr>
              <a:t> </a:t>
            </a:r>
            <a:r>
              <a:rPr sz="4000" dirty="0" err="1">
                <a:solidFill>
                  <a:srgbClr val="000000"/>
                </a:solidFill>
                <a:latin typeface="TDTD평고딕"/>
              </a:rPr>
              <a:t>마감일에</a:t>
            </a:r>
            <a:r>
              <a:rPr sz="4000" dirty="0">
                <a:solidFill>
                  <a:srgbClr val="000000"/>
                </a:solidFill>
                <a:latin typeface="TDTD평고딕"/>
              </a:rPr>
              <a:t> </a:t>
            </a:r>
            <a:r>
              <a:rPr sz="4000" dirty="0" err="1">
                <a:solidFill>
                  <a:srgbClr val="000000"/>
                </a:solidFill>
                <a:latin typeface="TDTD평고딕"/>
              </a:rPr>
              <a:t>몰린다</a:t>
            </a:r>
            <a:endParaRPr sz="4000" dirty="0">
              <a:solidFill>
                <a:srgbClr val="000000"/>
              </a:solidFill>
              <a:latin typeface="TDTD평고딕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390650" y="6344436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2419350" y="3794760"/>
            <a:ext cx="13449300" cy="1737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9"/>
              </a:lnSpc>
              <a:spcBef>
                <a:spcPct val="0"/>
              </a:spcBef>
              <a:spcAft>
                <a:spcPts val="1000"/>
              </a:spcAft>
            </a:pPr>
            <a:r>
              <a:rPr sz="3000" b="1">
                <a:solidFill>
                  <a:srgbClr val="000000"/>
                </a:solidFill>
                <a:latin typeface="윤고딕"/>
              </a:rPr>
              <a:t>마감일 하루 코스닥 공시   388건 → 1,554건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6B6B6B"/>
                </a:solidFill>
                <a:latin typeface="윤고딕"/>
              </a:rPr>
              <a:t>2025년 3분기 보고서 제출 마감일. 유가증권시장도 331 → 864건으로 늘었고, 감사 의견거절 같은 악재성 공시도 이날 몰렸다.   한국경제 2025-11-17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19350" y="6720840"/>
            <a:ext cx="13449300" cy="1737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9"/>
              </a:lnSpc>
              <a:spcBef>
                <a:spcPct val="0"/>
              </a:spcBef>
              <a:spcAft>
                <a:spcPts val="1000"/>
              </a:spcAft>
            </a:pPr>
            <a:r>
              <a:rPr sz="3000" b="1">
                <a:solidFill>
                  <a:srgbClr val="000000"/>
                </a:solidFill>
                <a:latin typeface="윤고딕"/>
              </a:rPr>
              <a:t>손익 30% 이상 변동 공시의 55%가 ‘정정’</a:t>
            </a:r>
          </a:p>
          <a:p>
            <a:pPr algn="l">
              <a:spcAft>
                <a:spcPts val="1000"/>
              </a:spcAft>
            </a:pPr>
            <a:r>
              <a:rPr sz="1700">
                <a:solidFill>
                  <a:srgbClr val="6B6B6B"/>
                </a:solidFill>
                <a:latin typeface="윤고딕"/>
              </a:rPr>
              <a:t>약 550건 중 300건이 정정공시였고, GS건설은 당기순이익이 흑자에서 적자로 바뀌었다. 이미 발표된 숫자가 나중에 바뀐다는 뜻.   이투데이 2015-03-27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" name="TextBox 12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02. 문제 정의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743200"/>
            <a:ext cx="15508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>
                <a:solidFill>
                  <a:srgbClr val="6B6B6B"/>
                </a:solidFill>
                <a:latin typeface="윤고딕"/>
              </a:rPr>
              <a:t>그리고 그중엔 이미 끝낸 분석을 틀리게 만드는 것이 섞여 있다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9006840"/>
            <a:ext cx="155082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>
                <a:solidFill>
                  <a:srgbClr val="C0504D"/>
                </a:solidFill>
                <a:latin typeface="윤고딕"/>
              </a:rPr>
              <a:t>담당자가 알고 싶은 건 “뭐가 바뀌었나”가 아니라 “내가 전에 쓴 분석을 고쳐야 하나” — 그 답 하나를 얻으려고 매번 공시 목록부터 다시 훑는다.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89888" y="1946945"/>
            <a:ext cx="15508224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>
                <a:solidFill>
                  <a:srgbClr val="000000"/>
                </a:solidFill>
                <a:latin typeface="TDTD평고딕"/>
              </a:rPr>
              <a:t>RAW → CORE → MART</a:t>
            </a:r>
          </a:p>
        </p:txBody>
      </p:sp>
      <p:sp>
        <p:nvSpPr>
          <p:cNvPr id="9" name="AutoShape 9"/>
          <p:cNvSpPr/>
          <p:nvPr/>
        </p:nvSpPr>
        <p:spPr>
          <a:xfrm>
            <a:off x="1390650" y="6344436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" name="TextBox 12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03. 데이터 파이프라인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743200"/>
            <a:ext cx="15508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>
                <a:solidFill>
                  <a:srgbClr val="6B6B6B"/>
                </a:solidFill>
                <a:latin typeface="윤고딕"/>
              </a:rPr>
              <a:t>Power BI와 OpenAI는 같은 MART만 읽는다 — 그래서 화면 숫자와 해설 숫자가 다를 수 없다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547872"/>
            <a:ext cx="15508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C0504D"/>
                </a:solidFill>
                <a:latin typeface="윤고딕"/>
              </a:rPr>
              <a:t>OpenDART(공시·원문·재무) + ECOS(기준금리)   →   PostgreSQL  RAW → CORE → MART   →   SQL · Python 변화 탐지   →   OpenAI 해설(근거 검증)   →   Power BI · n8n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1605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C0504D"/>
                </a:solidFill>
                <a:latin typeface="윤고딕"/>
              </a:rPr>
              <a:t>RAW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197096"/>
            <a:ext cx="1252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API 응답 원본 + 호출 파라미터 + 수집일시. 원문을 원형 그대로 보존한다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0749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C0504D"/>
                </a:solidFill>
                <a:latin typeface="윤고딕"/>
              </a:rPr>
              <a:t>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111496"/>
            <a:ext cx="1252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접수번호 중복 제거 · 원 단위 표준화 · 계정명 매핑 · 원공시–정정 연결 · 연결(CFS) 우선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989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C0504D"/>
                </a:solidFill>
                <a:latin typeface="윤고딕"/>
              </a:rPr>
              <a:t>MART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6025896"/>
            <a:ext cx="12527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change_events(이벤트) · company_priority(기업 등급) · explanation_sentences(해설+근거) · kpi_daily · rate_context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0" y="7269480"/>
            <a:ext cx="1463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300" b="1">
                <a:solidFill>
                  <a:srgbClr val="C0504D"/>
                </a:solidFill>
                <a:latin typeface="윤고딕"/>
              </a:rPr>
              <a:t>원격 접속 · ngrok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7726679"/>
            <a:ext cx="1463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로컬 PostgreSQL을 ngrok TCP 터널로 외부에 노출해, 팀원 · n8n · Power BI가 같은 DB를 바라보게 했다. 로컬 IP를 공유 IP로 바꿔 준 것 — 별도 서버를 띄우지 않고도 4명이 같은 데이터로 동시에 작업하고 교차 검증할 수 있었다.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8915400"/>
            <a:ext cx="1463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비교 기준은 동일 보고서 유형의 전년 동기만 (2026 반기 ↔ 2025 반기). 분기·반기 손익은 누적이라 다른 유형과 섞지 않는다.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89888" y="1946945"/>
            <a:ext cx="15508224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>
                <a:solidFill>
                  <a:srgbClr val="000000"/>
                </a:solidFill>
                <a:latin typeface="TDTD평고딕"/>
              </a:rPr>
              <a:t>무엇이 깨졌는가로 등급을 정한다</a:t>
            </a:r>
          </a:p>
        </p:txBody>
      </p:sp>
      <p:sp>
        <p:nvSpPr>
          <p:cNvPr id="9" name="AutoShape 9"/>
          <p:cNvSpPr/>
          <p:nvPr/>
        </p:nvSpPr>
        <p:spPr>
          <a:xfrm>
            <a:off x="1390650" y="6344436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3" name="TextBox 12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04. 재검토 우선순위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743200"/>
            <a:ext cx="15508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>
                <a:solidFill>
                  <a:srgbClr val="6B6B6B"/>
                </a:solidFill>
                <a:latin typeface="윤고딕"/>
              </a:rPr>
              <a:t>점수는 변화의 크기가 아니라, 담당자가 다시 써야 하는 분석의 범위다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389888" y="3566160"/>
          <a:ext cx="15508224" cy="4087368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387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윤고딕"/>
                        </a:rPr>
                        <a:t>등급</a:t>
                      </a:r>
                    </a:p>
                  </a:txBody>
                  <a:tcPr marL="128016" marR="128016"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윤고딕"/>
                        </a:rPr>
                        <a:t>깨진 전제</a:t>
                      </a:r>
                    </a:p>
                  </a:txBody>
                  <a:tcPr marL="128016" marR="128016">
                    <a:solidFill>
                      <a:srgbClr val="EE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>
                          <a:solidFill>
                            <a:srgbClr val="000000"/>
                          </a:solidFill>
                          <a:latin typeface="윤고딕"/>
                        </a:rPr>
                        <a:t>해당 Rule</a:t>
                      </a:r>
                    </a:p>
                  </a:txBody>
                  <a:tcPr marL="128016" marR="128016">
                    <a:solidFill>
                      <a:srgbClr val="EEEC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C0504D"/>
                          </a:solidFill>
                          <a:latin typeface="윤고딕"/>
                        </a:rPr>
                        <a:t>긴급확인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윤고딕"/>
                        </a:rPr>
                        <a:t>존속 · 상장 전제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윤고딕"/>
                        </a:rPr>
                        <a:t>F8 자본잠식 · D3 감사의견 비적정 · D7 관리종목·상장폐지 · D8 거래정지·회생·부도 · F1+F2 동시 · D5 핵심 재무 정정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0000"/>
                          </a:solidFill>
                          <a:latin typeface="윤고딕"/>
                        </a:rPr>
                        <a:t>높음  8~10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윤고딕"/>
                        </a:rPr>
                        <a:t>수익 전제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윤고딕"/>
                        </a:rPr>
                        <a:t>F1 영업이익 흑자↔적자 · F2 영업현금흐름 전환 · D9 영업정지·핵심사업 중단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0000"/>
                          </a:solidFill>
                          <a:latin typeface="윤고딕"/>
                        </a:rPr>
                        <a:t>중간  4~7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윤고딕"/>
                        </a:rPr>
                        <a:t>자금 전제 / 구성 변화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윤고딕"/>
                        </a:rPr>
                        <a:t>D2 유상증자·CB·BW · D10 채무보증 · D6D 계약 해지 · F4 부채비율 · F5 차입금 · D1 단기차입 · D4 최대주주 · D6A~C 수주·투자·출자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96112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000000"/>
                          </a:solidFill>
                          <a:latin typeface="윤고딕"/>
                        </a:rPr>
                        <a:t>낮음  1~3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  <a:latin typeface="윤고딕"/>
                        </a:rPr>
                        <a:t>전제 유지, 소폭 변동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윤고딕"/>
                        </a:rPr>
                        <a:t>F3 매출 ±10~20% · F6 · F7 흑자/적자 유지 중 ±30% · D5 오탈자 · 조건 변경</a:t>
                      </a:r>
                    </a:p>
                  </a:txBody>
                  <a:tcPr marL="128016" marR="12801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1389888" y="7909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윤고딕"/>
              </a:rPr>
              <a:t>이벤트 점수 = 기본점수 + 변동폭 밴드(0~3)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7909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윤고딕"/>
              </a:rPr>
              <a:t>기업 등급 = 가장 중요한 이벤트 하나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68912" y="7909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00000"/>
                </a:solidFill>
                <a:latin typeface="윤고딕"/>
              </a:rPr>
              <a:t>점수를 합산하지 않는다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8503920"/>
            <a:ext cx="1550822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밴드 기준선은 거래소 공시규정에서 빌렸다 — 손익 변동 30%, 자기자본·자산총액 대비 5~10%. 근거를 새로 만들지 않았다.</a:t>
            </a:r>
          </a:p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같은 원인에서 나온 신호 3개가 3배로 세어지지 않고, 공시가 많다고 위로 올라가지 않는다.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89888" y="1946945"/>
            <a:ext cx="15508224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>
                <a:solidFill>
                  <a:srgbClr val="000000"/>
                </a:solidFill>
                <a:latin typeface="TDTD평고딕"/>
              </a:rPr>
              <a:t>처음엔 점수를 더했다. 결과가 전부 ‘중간’이었다</a:t>
            </a:r>
          </a:p>
        </p:txBody>
      </p:sp>
      <p:sp>
        <p:nvSpPr>
          <p:cNvPr id="9" name="AutoShape 9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390650" y="3657600"/>
            <a:ext cx="7774351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600"/>
              </a:spcAft>
            </a:pPr>
            <a:r>
              <a:rPr sz="2500" b="1">
                <a:solidFill>
                  <a:srgbClr val="6B6B6B"/>
                </a:solidFill>
                <a:latin typeface="TDTD평고딕"/>
              </a:rPr>
              <a:t>v1 · PRD 제출본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3657600"/>
            <a:ext cx="7774351" cy="5003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600"/>
              </a:spcAft>
            </a:pPr>
            <a:r>
              <a:rPr sz="2500" b="1">
                <a:solidFill>
                  <a:srgbClr val="C0504D"/>
                </a:solidFill>
                <a:latin typeface="TDTD평고딕"/>
              </a:rPr>
              <a:t>v4.1 · 최종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92281" y="4434840"/>
            <a:ext cx="6771089" cy="38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19"/>
              </a:lnSpc>
              <a:spcBef>
                <a:spcPct val="0"/>
              </a:spcBef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재무 Rule 3·2점 + 공시 Rule +1을 합산, 5점 이상이면 ‘높음’</a:t>
            </a:r>
          </a:p>
          <a:p>
            <a:pPr algn="ctr">
              <a:spcAft>
                <a:spcPts val="700"/>
              </a:spcAft>
            </a:pPr>
            <a:endParaRPr sz="1700">
              <a:solidFill>
                <a:srgbClr val="000000"/>
              </a:solidFill>
              <a:latin typeface="윤고딕"/>
            </a:endParaRPr>
          </a:p>
          <a:p>
            <a:pPr algn="ctr"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첫 실행 결과 — 테스트 기업 전원 ‘중간’,</a:t>
            </a:r>
          </a:p>
          <a:p>
            <a:pPr algn="ctr"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공시 건수가 많은 기업이 1위</a:t>
            </a:r>
          </a:p>
          <a:p>
            <a:pPr algn="ctr">
              <a:spcAft>
                <a:spcPts val="700"/>
              </a:spcAft>
            </a:pPr>
            <a:endParaRPr sz="1700">
              <a:solidFill>
                <a:srgbClr val="000000"/>
              </a:solidFill>
              <a:latin typeface="윤고딕"/>
            </a:endParaRPr>
          </a:p>
          <a:p>
            <a:pPr algn="ctr"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원인: 매출 급감 → 영업적자 → 영업CF 적자가 한 원인인데</a:t>
            </a:r>
          </a:p>
          <a:p>
            <a:pPr algn="ctr"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세 번 세어졌다. 정정은 내용과 무관하게 일률 +1.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645631" y="4434840"/>
            <a:ext cx="6771089" cy="3840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19"/>
              </a:lnSpc>
              <a:spcBef>
                <a:spcPct val="0"/>
              </a:spcBef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이벤트별 점수, 기업 등급은 가장 중요한 사건 하나</a:t>
            </a:r>
          </a:p>
          <a:p>
            <a:pPr algn="ctr">
              <a:spcAft>
                <a:spcPts val="700"/>
              </a:spcAft>
            </a:pPr>
            <a:endParaRPr sz="1700">
              <a:solidFill>
                <a:srgbClr val="000000"/>
              </a:solidFill>
              <a:latin typeface="윤고딕"/>
            </a:endParaRPr>
          </a:p>
          <a:p>
            <a:pPr algn="ctr"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양방향 Rule — 적자→흑자 전환, 매출 급증도 재검토 대상</a:t>
            </a:r>
          </a:p>
          <a:p>
            <a:pPr algn="ctr"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긴급확인 층 신설 · 정정 4단계 분류 · D6~D10 추가</a:t>
            </a:r>
          </a:p>
          <a:p>
            <a:pPr algn="ctr">
              <a:spcAft>
                <a:spcPts val="700"/>
              </a:spcAft>
            </a:pPr>
            <a:endParaRPr sz="1700">
              <a:solidFill>
                <a:srgbClr val="000000"/>
              </a:solidFill>
              <a:latin typeface="윤고딕"/>
            </a:endParaRPr>
          </a:p>
          <a:p>
            <a:pPr algn="ctr"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정정으로 재판정된 재무 이벤트와 정정공시는</a:t>
            </a:r>
          </a:p>
          <a:p>
            <a:pPr algn="ctr">
              <a:spcAft>
                <a:spcPts val="700"/>
              </a:spcAft>
            </a:pPr>
            <a:r>
              <a:rPr sz="1700">
                <a:solidFill>
                  <a:srgbClr val="000000"/>
                </a:solidFill>
                <a:latin typeface="윤고딕"/>
              </a:rPr>
              <a:t>같은 사건으로 묶어 이중 반영을 차단</a:t>
            </a:r>
          </a:p>
        </p:txBody>
      </p:sp>
      <p:sp>
        <p:nvSpPr>
          <p:cNvPr id="14" name="AutoShape 14"/>
          <p:cNvSpPr/>
          <p:nvPr/>
        </p:nvSpPr>
        <p:spPr>
          <a:xfrm>
            <a:off x="9129713" y="4191804"/>
            <a:ext cx="0" cy="4110699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5" name="TextBox 14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04. 설계 의도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743200"/>
            <a:ext cx="15508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>
                <a:solidFill>
                  <a:srgbClr val="6B6B6B"/>
                </a:solidFill>
                <a:latin typeface="윤고딕"/>
              </a:rPr>
              <a:t>PRD 가설 ②(규칙 기반 중요도가 담당자 판단과 대체로 일치한다)를 첫 실행에서 기각하고 고쳤다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8549640"/>
            <a:ext cx="15508224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멘토 피드백(10/8) 반영 — ① 동일 원인 중복 · Materiality · 정정 이중 반영 → 단일 사건 등급 + 변동폭 밴드 + event_group 묶음</a:t>
            </a:r>
          </a:p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② 상태 전환은 %보다 전환 자체 → F1·F2는 부호 전환으로만 판정      ⑤ 긍정 변화도 재검토 대상      ⑥ 건수 ≠ 우선순위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89888" y="1946945"/>
            <a:ext cx="15508224" cy="7554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 dirty="0" err="1">
                <a:solidFill>
                  <a:srgbClr val="000000"/>
                </a:solidFill>
                <a:latin typeface="TDTD평고딕"/>
              </a:rPr>
              <a:t>오늘</a:t>
            </a:r>
            <a:r>
              <a:rPr lang="en-US" sz="4000" dirty="0">
                <a:solidFill>
                  <a:srgbClr val="000000"/>
                </a:solidFill>
                <a:latin typeface="TDTD평고딕"/>
              </a:rPr>
              <a:t>,</a:t>
            </a:r>
            <a:r>
              <a:rPr sz="4000" dirty="0">
                <a:solidFill>
                  <a:srgbClr val="000000"/>
                </a:solidFill>
                <a:latin typeface="TDTD평고딕"/>
              </a:rPr>
              <a:t> </a:t>
            </a:r>
            <a:r>
              <a:rPr sz="4000" dirty="0" err="1">
                <a:solidFill>
                  <a:srgbClr val="000000"/>
                </a:solidFill>
                <a:latin typeface="TDTD평고딕"/>
              </a:rPr>
              <a:t>누구를</a:t>
            </a:r>
            <a:r>
              <a:rPr sz="4000" dirty="0">
                <a:solidFill>
                  <a:srgbClr val="000000"/>
                </a:solidFill>
                <a:latin typeface="TDTD평고딕"/>
              </a:rPr>
              <a:t> 왜 </a:t>
            </a:r>
            <a:r>
              <a:rPr sz="4000" dirty="0" err="1">
                <a:solidFill>
                  <a:srgbClr val="000000"/>
                </a:solidFill>
                <a:latin typeface="TDTD평고딕"/>
              </a:rPr>
              <a:t>먼저</a:t>
            </a:r>
            <a:r>
              <a:rPr sz="4000" dirty="0">
                <a:solidFill>
                  <a:srgbClr val="000000"/>
                </a:solidFill>
                <a:latin typeface="TDTD평고딕"/>
              </a:rPr>
              <a:t> </a:t>
            </a:r>
            <a:r>
              <a:rPr sz="4000" dirty="0" err="1">
                <a:solidFill>
                  <a:srgbClr val="000000"/>
                </a:solidFill>
                <a:latin typeface="TDTD평고딕"/>
              </a:rPr>
              <a:t>보나</a:t>
            </a:r>
            <a:endParaRPr sz="4000" dirty="0">
              <a:solidFill>
                <a:srgbClr val="000000"/>
              </a:solidFill>
              <a:latin typeface="TDTD평고딕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567160" y="4206240"/>
            <a:ext cx="5257800" cy="548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9"/>
              </a:lnSpc>
              <a:spcBef>
                <a:spcPct val="0"/>
              </a:spcBef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① 상단 KPI — 검토 대상 16/16개사 (긴급 1 · 높음 3 · 중간 12), 재무 Rule 22건, 정정 112건, 신규 공시 1,493건, 기준금리 2.50%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② 지금 봐야 할 기업 — 1위 이스트에이드 10점 긴급. D7 관리종목 · D8 거래정지 · D5 정정. 존속 전제가 깨져 점수와 무관하게 최우선.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③ 기업별 검토 사유 — 막대는 점수, 태그는 변화 내용. 초록은 좋아진 변화(영업이익 +189%)도 함께 띄운다. 좋아져도 전제가 바뀌었으면 다시 본다.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④ 검토일 이후 정정공시 — 공시명을 누르면 DART 원문, ‘해설’은 문장마다 근거가 붙은 AI 설명.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67160" y="3520440"/>
            <a:ext cx="52578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  <a:spcAft>
                <a:spcPts val="600"/>
              </a:spcAft>
            </a:pPr>
            <a:r>
              <a:rPr sz="2100">
                <a:solidFill>
                  <a:srgbClr val="000000"/>
                </a:solidFill>
                <a:latin typeface="TDTD평고딕"/>
              </a:rPr>
              <a:t>전체 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05. Power BI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743200"/>
            <a:ext cx="15508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>
                <a:solidFill>
                  <a:srgbClr val="6B6B6B"/>
                </a:solidFill>
                <a:latin typeface="윤고딕"/>
              </a:rPr>
              <a:t>검토일 하나로 16개사를 한 화면에</a:t>
            </a:r>
          </a:p>
        </p:txBody>
      </p:sp>
      <p:pic>
        <p:nvPicPr>
          <p:cNvPr id="15" name="Picture 14" descr="bi 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587012"/>
            <a:ext cx="10332720" cy="57647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89888" y="1946945"/>
            <a:ext cx="15508224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>
                <a:solidFill>
                  <a:srgbClr val="000000"/>
                </a:solidFill>
                <a:latin typeface="TDTD평고딕"/>
              </a:rPr>
              <a:t>기업 하나를 고르면 전부 다시 계산된다</a:t>
            </a:r>
          </a:p>
        </p:txBody>
      </p:sp>
      <p:sp>
        <p:nvSpPr>
          <p:cNvPr id="9" name="AutoShape 9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567160" y="4206240"/>
            <a:ext cx="5257800" cy="548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9"/>
              </a:lnSpc>
              <a:spcBef>
                <a:spcPct val="0"/>
              </a:spcBef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상단에서 기업을 고르면 KPI · 검토 사유 · 정정 목록이 모두 그 기업 기준으로 바뀐다.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검토 대상 1/16개사 · 재무 Rule 2건 · 정정 11건 · 신규 103건.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검토 사유는 영업이익 +101%, 매출 +46.8%, 유상증자 결정, 시설투자 — 좋아진 변화와 자금 변화가 함께 뜬다.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비교축 4분리 — [전년 동기] 재무 · [정정] 전→후 · [신규] 검토일 이후 · [거시] 기준금리. ‘이전 → 최신’ 한 모양으로 보여주면 ‘이전’이 언제인지 헷갈린다.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ECOS 기준금리는 점수에 넣지 않는다. 모든 기업에 같은 변수라 인상기엔 전 기업 등급이 함께 올라가 버린다. 누굴 추가로 볼지 고르는 필터로만 쓴다.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67160" y="3520440"/>
            <a:ext cx="52578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  <a:spcAft>
                <a:spcPts val="600"/>
              </a:spcAft>
            </a:pPr>
            <a:r>
              <a:rPr sz="2100">
                <a:solidFill>
                  <a:srgbClr val="000000"/>
                </a:solidFill>
                <a:latin typeface="TDTD평고딕"/>
              </a:rPr>
              <a:t>SK하이닉스 선택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05. Power BI 대시보드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743200"/>
            <a:ext cx="15508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>
                <a:solidFill>
                  <a:srgbClr val="6B6B6B"/>
                </a:solidFill>
                <a:latin typeface="윤고딕"/>
              </a:rPr>
              <a:t>비교 기준이 다른 변화는 같은 표에 섞지 않는다</a:t>
            </a:r>
          </a:p>
        </p:txBody>
      </p:sp>
      <p:pic>
        <p:nvPicPr>
          <p:cNvPr id="15" name="Picture 14" descr="bi 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578400"/>
            <a:ext cx="10332720" cy="578195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389888" y="1946945"/>
            <a:ext cx="15508224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>
                <a:solidFill>
                  <a:srgbClr val="000000"/>
                </a:solidFill>
                <a:latin typeface="TDTD평고딕"/>
              </a:rPr>
              <a:t>같은 MART, 두 개의 화면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389888" y="3547872"/>
            <a:ext cx="7315200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600"/>
              </a:spcAft>
            </a:pPr>
            <a:r>
              <a:rPr sz="2100" b="1">
                <a:solidFill>
                  <a:srgbClr val="000000"/>
                </a:solidFill>
                <a:latin typeface="TDTD평고딕"/>
              </a:rPr>
              <a:t>Power BI · 공유하고 집계한다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82912" y="3547872"/>
            <a:ext cx="7315200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600"/>
              </a:spcAft>
            </a:pPr>
            <a:r>
              <a:rPr sz="2100" b="1">
                <a:solidFill>
                  <a:srgbClr val="C0504D"/>
                </a:solidFill>
                <a:latin typeface="TDTD평고딕"/>
              </a:rPr>
              <a:t>웹 · 실행하고 파고든다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89888" y="7726679"/>
            <a:ext cx="7315200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0"/>
              </a:lnSpc>
              <a:spcBef>
                <a:spcPct val="0"/>
              </a:spcBef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윤고딕"/>
              </a:rPr>
              <a:t>16개사를 한 화면에 모아 보고, 슬라이서로 기업을 바꿔 가며 비교한다.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윤고딕"/>
              </a:rPr>
              <a:t>정기 새로고침과 사내 공유에 강하다.</a:t>
            </a:r>
          </a:p>
          <a:p>
            <a:pPr algn="l">
              <a:spcAft>
                <a:spcPts val="700"/>
              </a:spcAft>
            </a:pPr>
            <a:r>
              <a:rPr sz="1500">
                <a:solidFill>
                  <a:srgbClr val="000000"/>
                </a:solidFill>
                <a:latin typeface="윤고딕"/>
              </a:rPr>
              <a:t>다만 조회 전용이다 — 분석을 돌릴 수 없고, 시각화는 BI가 주는 틀 안에서만 만든다.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582912" y="7726679"/>
            <a:ext cx="7315200" cy="1554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0"/>
              </a:lnSpc>
              <a:spcBef>
                <a:spcPct val="0"/>
              </a:spcBef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윤고딕"/>
              </a:rPr>
              <a:t>① 분석 실행까지 — 종목코드를 넣으면 OpenDART 수집 → 판정 → AI 해설이 돌고, 진행 상황이 단계마다 실시간으로 찍힌다.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윤고딕"/>
              </a:rPr>
              <a:t>② 분기 추이 — 3개년 12분기를 분기끼리 묶어 비교. 미공시 분기도 자리를 비워 두고 표시한다.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윤고딕"/>
              </a:rPr>
              <a:t>③ 검토일 이력 — 과거 검토 회차를 골라 그 시점 결과를 다시 본다.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000000"/>
                </a:solidFill>
                <a:latin typeface="윤고딕"/>
              </a:rPr>
              <a:t>④ 문장별 근거 — 해설마다 접수번호·원문 발췌를 펼쳐 본다. CSV로 다시 BI에 넣는다.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05. 화면 설계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2743200"/>
            <a:ext cx="15508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>
                <a:solidFill>
                  <a:srgbClr val="6B6B6B"/>
                </a:solidFill>
                <a:latin typeface="윤고딕"/>
              </a:rPr>
              <a:t>Power BI가 잘하는 것과 못 하는 것을 나눠서, 못 하는 쪽을 웹으로 설계했다</a:t>
            </a:r>
          </a:p>
        </p:txBody>
      </p:sp>
      <p:pic>
        <p:nvPicPr>
          <p:cNvPr id="20" name="Picture 19" descr="bi 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492" y="4023360"/>
            <a:ext cx="6391990" cy="3566160"/>
          </a:xfrm>
          <a:prstGeom prst="rect">
            <a:avLst/>
          </a:prstGeom>
        </p:spPr>
      </p:pic>
      <p:pic>
        <p:nvPicPr>
          <p:cNvPr id="21" name="Picture 20" descr="web_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4616" y="4023360"/>
            <a:ext cx="5131791" cy="35661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389888" y="9464040"/>
            <a:ext cx="15508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>
                <a:solidFill>
                  <a:srgbClr val="C0504D"/>
                </a:solidFill>
                <a:latin typeface="윤고딕"/>
              </a:rPr>
              <a:t>두 화면은 같은 MART를 읽는다 — 어느 쪽을 보든 숫자가 갈라지지 않는다.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89888" y="1946945"/>
            <a:ext cx="15508224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>
                <a:solidFill>
                  <a:srgbClr val="000000"/>
                </a:solidFill>
                <a:latin typeface="TDTD평고딕"/>
              </a:rPr>
              <a:t>긴급 공시는 기다리지 않고 먼저 찾아온다</a:t>
            </a:r>
          </a:p>
        </p:txBody>
      </p:sp>
      <p:sp>
        <p:nvSpPr>
          <p:cNvPr id="9" name="AutoShape 9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11567160" y="4206240"/>
            <a:ext cx="5257800" cy="5486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519"/>
              </a:lnSpc>
              <a:spcBef>
                <a:spcPct val="0"/>
              </a:spcBef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① 확인 주기 — 평일 07:05 ~ 18:55, 10분 간격으로 DB를 확인한다.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② 긴급만 발송 — mart.change_events에서 is_emergency = true인 신규 공시만 Discord로 보낸다. 관리종목 · 거래정지 · 감사의견 거절 등.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③ 중복 방지 — 보낸 공시의 접수번호를 mart.alert_log에 기록해 같은 공시를 두 번 보내지 않는다. 같은 알림이 반복되면 아무도 안 본다.</a:t>
            </a:r>
          </a:p>
          <a:p>
            <a:pPr algn="l">
              <a:spcAft>
                <a:spcPts val="9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판정 로직은 전부 SQL에 있다. n8n은 ‘언제 확인하고 어디로 보낼지’만 맡는다 — 알림 도구가 등급을 바꾸지 않는다.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567160" y="3520440"/>
            <a:ext cx="5257800" cy="548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  <a:spcAft>
                <a:spcPts val="600"/>
              </a:spcAft>
            </a:pPr>
            <a:r>
              <a:rPr sz="2100">
                <a:solidFill>
                  <a:srgbClr val="000000"/>
                </a:solidFill>
                <a:latin typeface="TDTD평고딕"/>
              </a:rPr>
              <a:t>준실시간 · 10분 주기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06. n8n 긴급 알림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2743200"/>
            <a:ext cx="15508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>
                <a:solidFill>
                  <a:srgbClr val="6B6B6B"/>
                </a:solidFill>
                <a:latin typeface="윤고딕"/>
              </a:rPr>
              <a:t>담당자가 대시보드를 열 때까지 기다리면 늦는 변화가 있다</a:t>
            </a:r>
          </a:p>
        </p:txBody>
      </p:sp>
      <p:pic>
        <p:nvPicPr>
          <p:cNvPr id="15" name="Picture 14" descr="n8n 최종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120704"/>
            <a:ext cx="10332720" cy="4651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389888" y="1946945"/>
            <a:ext cx="15508224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>
                <a:solidFill>
                  <a:srgbClr val="000000"/>
                </a:solidFill>
                <a:latin typeface="TDTD평고딕"/>
              </a:rPr>
              <a:t>실제로 도착한 알림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sp>
        <p:nvSpPr>
          <p:cNvPr id="14" name="TextBox 14"/>
          <p:cNvSpPr txBox="1"/>
          <p:nvPr/>
        </p:nvSpPr>
        <p:spPr>
          <a:xfrm>
            <a:off x="1783080" y="3566160"/>
            <a:ext cx="6830568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600"/>
              </a:spcAft>
            </a:pPr>
            <a:r>
              <a:rPr sz="2100" b="1">
                <a:solidFill>
                  <a:srgbClr val="000000"/>
                </a:solidFill>
                <a:latin typeface="TDTD평고딕"/>
              </a:rPr>
              <a:t>정정공시 2건 · 09:34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47504" y="3566160"/>
            <a:ext cx="6830568" cy="411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  <a:spcAft>
                <a:spcPts val="600"/>
              </a:spcAft>
            </a:pPr>
            <a:r>
              <a:rPr sz="2100" b="1">
                <a:solidFill>
                  <a:srgbClr val="000000"/>
                </a:solidFill>
                <a:latin typeface="TDTD평고딕"/>
              </a:rPr>
              <a:t>관리종목 지정 우려 · 12:45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83080" y="8732520"/>
            <a:ext cx="6830568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0"/>
              </a:lnSpc>
              <a:spcBef>
                <a:spcPct val="0"/>
              </a:spcBef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  <a:latin typeface="윤고딕"/>
              </a:rPr>
              <a:t>예시 C · 예시 B — 정정공시 2건을 한 번에. “판정은 Rule 기준(코드)으로 이뤄졌으며, 투자 판단을 대신하지 않습니다.”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747504" y="8732520"/>
            <a:ext cx="6830568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00"/>
              </a:lnSpc>
              <a:spcBef>
                <a:spcPct val="0"/>
              </a:spcBef>
              <a:spcAft>
                <a:spcPts val="600"/>
              </a:spcAft>
            </a:pPr>
            <a:r>
              <a:rPr sz="1500">
                <a:solidFill>
                  <a:srgbClr val="000000"/>
                </a:solidFill>
                <a:latin typeface="윤고딕"/>
              </a:rPr>
              <a:t>에이전트AI · 긴급(D7) — 시가총액 200억원 미달로 관리종목 지정 우려. 담당자는 대시보드를 열기 전에 이 사실을 먼저 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06. n8n 긴급 알림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2743200"/>
            <a:ext cx="155082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>
                <a:solidFill>
                  <a:srgbClr val="6B6B6B"/>
                </a:solidFill>
                <a:latin typeface="윤고딕"/>
              </a:rPr>
              <a:t>기업명 · 등급 · Rule ID · 공시 제목 · DART 원문 링크가 한 메시지에 들어간다</a:t>
            </a:r>
          </a:p>
        </p:txBody>
      </p:sp>
      <p:pic>
        <p:nvPicPr>
          <p:cNvPr id="20" name="Picture 19" descr="디스코드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8027" y="4069080"/>
            <a:ext cx="3440673" cy="4526280"/>
          </a:xfrm>
          <a:prstGeom prst="rect">
            <a:avLst/>
          </a:prstGeom>
        </p:spPr>
      </p:pic>
      <p:pic>
        <p:nvPicPr>
          <p:cNvPr id="21" name="Picture 20" descr="디스코드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63683" y="4069080"/>
            <a:ext cx="3798209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89888" y="1946945"/>
            <a:ext cx="15508224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>
                <a:solidFill>
                  <a:srgbClr val="000000"/>
                </a:solidFill>
                <a:latin typeface="TDTD평고딕"/>
              </a:rPr>
              <a:t>무엇이 달라졌고, 무엇을 검증했나</a:t>
            </a:r>
          </a:p>
        </p:txBody>
      </p:sp>
      <p:sp>
        <p:nvSpPr>
          <p:cNvPr id="9" name="AutoShape 9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2104513" y="4650656"/>
            <a:ext cx="4286250" cy="3629614"/>
            <a:chOff x="0" y="0"/>
            <a:chExt cx="316703" cy="2681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16703" cy="268185"/>
            </a:xfrm>
            <a:custGeom>
              <a:avLst/>
              <a:gdLst/>
              <a:ahLst/>
              <a:cxnLst/>
              <a:rect l="l" t="t" r="r" b="b"/>
              <a:pathLst>
                <a:path w="316703" h="268185">
                  <a:moveTo>
                    <a:pt x="36124" y="0"/>
                  </a:moveTo>
                  <a:lnTo>
                    <a:pt x="280578" y="0"/>
                  </a:lnTo>
                  <a:cubicBezTo>
                    <a:pt x="290159" y="0"/>
                    <a:pt x="299348" y="3806"/>
                    <a:pt x="306122" y="10581"/>
                  </a:cubicBezTo>
                  <a:cubicBezTo>
                    <a:pt x="312897" y="17355"/>
                    <a:pt x="316703" y="26544"/>
                    <a:pt x="316703" y="36124"/>
                  </a:cubicBezTo>
                  <a:lnTo>
                    <a:pt x="316703" y="232061"/>
                  </a:lnTo>
                  <a:cubicBezTo>
                    <a:pt x="316703" y="241642"/>
                    <a:pt x="312897" y="250830"/>
                    <a:pt x="306122" y="257605"/>
                  </a:cubicBezTo>
                  <a:cubicBezTo>
                    <a:pt x="299348" y="264379"/>
                    <a:pt x="290159" y="268185"/>
                    <a:pt x="280578" y="268185"/>
                  </a:cubicBezTo>
                  <a:lnTo>
                    <a:pt x="36124" y="268185"/>
                  </a:lnTo>
                  <a:cubicBezTo>
                    <a:pt x="26544" y="268185"/>
                    <a:pt x="17355" y="264379"/>
                    <a:pt x="10581" y="257605"/>
                  </a:cubicBezTo>
                  <a:cubicBezTo>
                    <a:pt x="3806" y="250830"/>
                    <a:pt x="0" y="241642"/>
                    <a:pt x="0" y="232061"/>
                  </a:cubicBezTo>
                  <a:lnTo>
                    <a:pt x="0" y="36124"/>
                  </a:lnTo>
                  <a:cubicBezTo>
                    <a:pt x="0" y="26544"/>
                    <a:pt x="3806" y="17355"/>
                    <a:pt x="10581" y="10581"/>
                  </a:cubicBezTo>
                  <a:cubicBezTo>
                    <a:pt x="17355" y="3806"/>
                    <a:pt x="26544" y="0"/>
                    <a:pt x="36124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316703" cy="306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001898" y="4650656"/>
            <a:ext cx="4286250" cy="3629614"/>
            <a:chOff x="0" y="0"/>
            <a:chExt cx="316703" cy="268185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16703" cy="268185"/>
            </a:xfrm>
            <a:custGeom>
              <a:avLst/>
              <a:gdLst/>
              <a:ahLst/>
              <a:cxnLst/>
              <a:rect l="l" t="t" r="r" b="b"/>
              <a:pathLst>
                <a:path w="316703" h="268185">
                  <a:moveTo>
                    <a:pt x="36124" y="0"/>
                  </a:moveTo>
                  <a:lnTo>
                    <a:pt x="280578" y="0"/>
                  </a:lnTo>
                  <a:cubicBezTo>
                    <a:pt x="290159" y="0"/>
                    <a:pt x="299348" y="3806"/>
                    <a:pt x="306122" y="10581"/>
                  </a:cubicBezTo>
                  <a:cubicBezTo>
                    <a:pt x="312897" y="17355"/>
                    <a:pt x="316703" y="26544"/>
                    <a:pt x="316703" y="36124"/>
                  </a:cubicBezTo>
                  <a:lnTo>
                    <a:pt x="316703" y="232061"/>
                  </a:lnTo>
                  <a:cubicBezTo>
                    <a:pt x="316703" y="241642"/>
                    <a:pt x="312897" y="250830"/>
                    <a:pt x="306122" y="257605"/>
                  </a:cubicBezTo>
                  <a:cubicBezTo>
                    <a:pt x="299348" y="264379"/>
                    <a:pt x="290159" y="268185"/>
                    <a:pt x="280578" y="268185"/>
                  </a:cubicBezTo>
                  <a:lnTo>
                    <a:pt x="36124" y="268185"/>
                  </a:lnTo>
                  <a:cubicBezTo>
                    <a:pt x="26544" y="268185"/>
                    <a:pt x="17355" y="264379"/>
                    <a:pt x="10581" y="257605"/>
                  </a:cubicBezTo>
                  <a:cubicBezTo>
                    <a:pt x="3806" y="250830"/>
                    <a:pt x="0" y="241642"/>
                    <a:pt x="0" y="232061"/>
                  </a:cubicBezTo>
                  <a:lnTo>
                    <a:pt x="0" y="36124"/>
                  </a:lnTo>
                  <a:cubicBezTo>
                    <a:pt x="0" y="26544"/>
                    <a:pt x="3806" y="17355"/>
                    <a:pt x="10581" y="10581"/>
                  </a:cubicBezTo>
                  <a:cubicBezTo>
                    <a:pt x="17355" y="3806"/>
                    <a:pt x="26544" y="0"/>
                    <a:pt x="36124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316703" cy="306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899795" y="4650656"/>
            <a:ext cx="4286250" cy="3629614"/>
            <a:chOff x="0" y="0"/>
            <a:chExt cx="316703" cy="26818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16703" cy="268185"/>
            </a:xfrm>
            <a:custGeom>
              <a:avLst/>
              <a:gdLst/>
              <a:ahLst/>
              <a:cxnLst/>
              <a:rect l="l" t="t" r="r" b="b"/>
              <a:pathLst>
                <a:path w="316703" h="268185">
                  <a:moveTo>
                    <a:pt x="36124" y="0"/>
                  </a:moveTo>
                  <a:lnTo>
                    <a:pt x="280578" y="0"/>
                  </a:lnTo>
                  <a:cubicBezTo>
                    <a:pt x="290159" y="0"/>
                    <a:pt x="299348" y="3806"/>
                    <a:pt x="306122" y="10581"/>
                  </a:cubicBezTo>
                  <a:cubicBezTo>
                    <a:pt x="312897" y="17355"/>
                    <a:pt x="316703" y="26544"/>
                    <a:pt x="316703" y="36124"/>
                  </a:cubicBezTo>
                  <a:lnTo>
                    <a:pt x="316703" y="232061"/>
                  </a:lnTo>
                  <a:cubicBezTo>
                    <a:pt x="316703" y="241642"/>
                    <a:pt x="312897" y="250830"/>
                    <a:pt x="306122" y="257605"/>
                  </a:cubicBezTo>
                  <a:cubicBezTo>
                    <a:pt x="299348" y="264379"/>
                    <a:pt x="290159" y="268185"/>
                    <a:pt x="280578" y="268185"/>
                  </a:cubicBezTo>
                  <a:lnTo>
                    <a:pt x="36124" y="268185"/>
                  </a:lnTo>
                  <a:cubicBezTo>
                    <a:pt x="26544" y="268185"/>
                    <a:pt x="17355" y="264379"/>
                    <a:pt x="10581" y="257605"/>
                  </a:cubicBezTo>
                  <a:cubicBezTo>
                    <a:pt x="3806" y="250830"/>
                    <a:pt x="0" y="241642"/>
                    <a:pt x="0" y="232061"/>
                  </a:cubicBezTo>
                  <a:lnTo>
                    <a:pt x="0" y="36124"/>
                  </a:lnTo>
                  <a:cubicBezTo>
                    <a:pt x="0" y="26544"/>
                    <a:pt x="3806" y="17355"/>
                    <a:pt x="10581" y="10581"/>
                  </a:cubicBezTo>
                  <a:cubicBezTo>
                    <a:pt x="17355" y="3806"/>
                    <a:pt x="26544" y="0"/>
                    <a:pt x="36124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316703" cy="3062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2336824" y="5628504"/>
            <a:ext cx="3818558" cy="178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0"/>
              </a:lnSpc>
              <a:spcBef>
                <a:spcPct val="0"/>
              </a:spcBef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v1 합산 — 테스트 기업 전원 ‘중간’</a:t>
            </a:r>
          </a:p>
          <a:p>
            <a:pPr algn="ctr">
              <a:spcAft>
                <a:spcPts val="500"/>
              </a:spcAft>
            </a:pPr>
            <a:endParaRPr sz="1600">
              <a:solidFill>
                <a:srgbClr val="000000"/>
              </a:solidFill>
              <a:latin typeface="윤고딕"/>
            </a:endParaRP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v4.1 최종 (16개사)</a:t>
            </a: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긴급 1 · 높음 3 · 중간 12</a:t>
            </a:r>
          </a:p>
          <a:p>
            <a:pPr algn="ctr">
              <a:spcAft>
                <a:spcPts val="500"/>
              </a:spcAft>
            </a:pPr>
            <a:endParaRPr sz="1600">
              <a:solidFill>
                <a:srgbClr val="000000"/>
              </a:solidFill>
              <a:latin typeface="윤고딕"/>
            </a:endParaRP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공시 건수는 정보 컬럼으로 내리고</a:t>
            </a: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정렬은 등급 · 점수로만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35745" y="5628504"/>
            <a:ext cx="3818558" cy="178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0"/>
              </a:lnSpc>
              <a:spcBef>
                <a:spcPct val="0"/>
              </a:spcBef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점수 · 등급을 SQL ↔ Python ↔ 수동으로</a:t>
            </a: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각각 계산해 대조</a:t>
            </a:r>
          </a:p>
          <a:p>
            <a:pPr algn="ctr">
              <a:spcAft>
                <a:spcPts val="500"/>
              </a:spcAft>
            </a:pPr>
            <a:endParaRPr sz="1600">
              <a:solidFill>
                <a:srgbClr val="000000"/>
              </a:solidFill>
              <a:latin typeface="윤고딕"/>
            </a:endParaRP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API ↔ DB ↔ Power BI 주요 값 일치</a:t>
            </a:r>
          </a:p>
          <a:p>
            <a:pPr algn="ctr">
              <a:spcAft>
                <a:spcPts val="500"/>
              </a:spcAft>
            </a:pPr>
            <a:endParaRPr sz="1600">
              <a:solidFill>
                <a:srgbClr val="000000"/>
              </a:solidFill>
              <a:latin typeface="윤고딕"/>
            </a:endParaRP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“정답을 맞혔다”가 아니라</a:t>
            </a: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“어디서 다시 계산해도 같은 값”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133642" y="5628504"/>
            <a:ext cx="3818558" cy="1784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80"/>
              </a:lnSpc>
              <a:spcBef>
                <a:spcPct val="0"/>
              </a:spcBef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해설 문장마다 접수번호 · 원문 섹션 ·</a:t>
            </a: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발췌를 붙이고, 원문에 없으면 버린다</a:t>
            </a:r>
          </a:p>
          <a:p>
            <a:pPr algn="ctr">
              <a:spcAft>
                <a:spcPts val="500"/>
              </a:spcAft>
            </a:pPr>
            <a:endParaRPr sz="1600">
              <a:solidFill>
                <a:srgbClr val="000000"/>
              </a:solidFill>
              <a:latin typeface="윤고딕"/>
            </a:endParaRP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AI 해설이 실패해도(API 오류 · 타임아웃)</a:t>
            </a: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수집 · 판정 결과는 그대로 저장된다</a:t>
            </a:r>
          </a:p>
          <a:p>
            <a:pPr algn="ctr">
              <a:spcAft>
                <a:spcPts val="500"/>
              </a:spcAft>
            </a:pPr>
            <a:endParaRPr sz="1600">
              <a:solidFill>
                <a:srgbClr val="000000"/>
              </a:solidFill>
              <a:latin typeface="윤고딕"/>
            </a:endParaRPr>
          </a:p>
          <a:p>
            <a:pPr algn="ctr">
              <a:spcAft>
                <a:spcPts val="500"/>
              </a:spcAft>
            </a:pPr>
            <a:r>
              <a:rPr sz="1600">
                <a:solidFill>
                  <a:srgbClr val="000000"/>
                </a:solidFill>
                <a:latin typeface="윤고딕"/>
              </a:rPr>
              <a:t>실패는 기록하고 다음 건으로 넘어간다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2104513" y="4394669"/>
            <a:ext cx="4287785" cy="688646"/>
            <a:chOff x="0" y="0"/>
            <a:chExt cx="1172616" cy="18833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172616" cy="188330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172616" cy="226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000107" y="4394669"/>
            <a:ext cx="4287785" cy="688646"/>
            <a:chOff x="0" y="0"/>
            <a:chExt cx="1172616" cy="18833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172616" cy="188330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172616" cy="226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897748" y="4394669"/>
            <a:ext cx="4287785" cy="688646"/>
            <a:chOff x="0" y="0"/>
            <a:chExt cx="1172616" cy="18833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172616" cy="188330"/>
            </a:xfrm>
            <a:custGeom>
              <a:avLst/>
              <a:gdLst/>
              <a:ahLst/>
              <a:cxnLst/>
              <a:rect l="l" t="t" r="r" b="b"/>
              <a:pathLst>
                <a:path w="1172616" h="188330">
                  <a:moveTo>
                    <a:pt x="72223" y="0"/>
                  </a:moveTo>
                  <a:lnTo>
                    <a:pt x="1100393" y="0"/>
                  </a:lnTo>
                  <a:cubicBezTo>
                    <a:pt x="1140281" y="0"/>
                    <a:pt x="1172616" y="32335"/>
                    <a:pt x="1172616" y="72223"/>
                  </a:cubicBezTo>
                  <a:lnTo>
                    <a:pt x="1172616" y="116107"/>
                  </a:lnTo>
                  <a:cubicBezTo>
                    <a:pt x="1172616" y="135261"/>
                    <a:pt x="1165007" y="153632"/>
                    <a:pt x="1151463" y="167176"/>
                  </a:cubicBezTo>
                  <a:cubicBezTo>
                    <a:pt x="1137918" y="180721"/>
                    <a:pt x="1119548" y="188330"/>
                    <a:pt x="1100393" y="188330"/>
                  </a:cubicBezTo>
                  <a:lnTo>
                    <a:pt x="72223" y="188330"/>
                  </a:lnTo>
                  <a:cubicBezTo>
                    <a:pt x="32335" y="188330"/>
                    <a:pt x="0" y="155994"/>
                    <a:pt x="0" y="116107"/>
                  </a:cubicBezTo>
                  <a:lnTo>
                    <a:pt x="0" y="72223"/>
                  </a:lnTo>
                  <a:cubicBezTo>
                    <a:pt x="0" y="32335"/>
                    <a:pt x="32335" y="0"/>
                    <a:pt x="72223" y="0"/>
                  </a:cubicBezTo>
                  <a:close/>
                </a:path>
              </a:pathLst>
            </a:custGeom>
            <a:solidFill>
              <a:srgbClr val="FFE5B8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0" y="-38100"/>
              <a:ext cx="1172616" cy="22643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12133642" y="4494517"/>
            <a:ext cx="3818558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  <a:latin typeface="TDTD평고딕"/>
              </a:rPr>
              <a:t>근거 없는 문장 0건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235745" y="4494517"/>
            <a:ext cx="3818558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  <a:latin typeface="TDTD평고딕"/>
              </a:rPr>
              <a:t>재계산이 일치한다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336824" y="4494517"/>
            <a:ext cx="3818558" cy="415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Aft>
                <a:spcPts val="600"/>
              </a:spcAft>
            </a:pPr>
            <a:r>
              <a:rPr sz="2400">
                <a:solidFill>
                  <a:srgbClr val="000000"/>
                </a:solidFill>
                <a:latin typeface="TDTD평고딕"/>
              </a:rPr>
              <a:t>등급이 갈렸다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07. 결과 · 검증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8485632"/>
            <a:ext cx="4288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C0504D"/>
                </a:solidFill>
                <a:latin typeface="윤고딕"/>
              </a:rP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03120" y="9144000"/>
            <a:ext cx="4288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윤고딕"/>
              </a:rPr>
              <a:t>SQL ↔ Python ↔ 수동 재계산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04304" y="8485632"/>
            <a:ext cx="4288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 dirty="0">
                <a:solidFill>
                  <a:srgbClr val="C0504D"/>
                </a:solidFill>
                <a:latin typeface="윤고딕"/>
              </a:rPr>
              <a:t>1,493건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9144000"/>
            <a:ext cx="4288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윤고딕"/>
              </a:rPr>
              <a:t>검토일 이후 신규 공시 탐지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896344" y="8485632"/>
            <a:ext cx="42885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3600" b="1">
                <a:solidFill>
                  <a:srgbClr val="C0504D"/>
                </a:solidFill>
                <a:latin typeface="윤고딕"/>
              </a:rPr>
              <a:t>0건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896344" y="9144000"/>
            <a:ext cx="428853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>
                <a:solidFill>
                  <a:srgbClr val="6B6B6B"/>
                </a:solidFill>
                <a:latin typeface="윤고딕"/>
              </a:rPr>
              <a:t>근거 없는 해설 문장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389888" y="1946945"/>
            <a:ext cx="15508224" cy="788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39"/>
              </a:lnSpc>
              <a:spcBef>
                <a:spcPct val="0"/>
              </a:spcBef>
              <a:spcAft>
                <a:spcPts val="600"/>
              </a:spcAft>
            </a:pPr>
            <a:r>
              <a:rPr sz="4000">
                <a:solidFill>
                  <a:srgbClr val="000000"/>
                </a:solidFill>
                <a:latin typeface="TDTD평고딕"/>
              </a:rPr>
              <a:t>구조는 그대로, 입력이 늘면 할 수 있는 것</a:t>
            </a:r>
          </a:p>
        </p:txBody>
      </p:sp>
      <p:sp>
        <p:nvSpPr>
          <p:cNvPr id="9" name="AutoShape 9"/>
          <p:cNvSpPr/>
          <p:nvPr/>
        </p:nvSpPr>
        <p:spPr>
          <a:xfrm>
            <a:off x="1390650" y="3239947"/>
            <a:ext cx="15506700" cy="0"/>
          </a:xfrm>
          <a:prstGeom prst="line">
            <a:avLst/>
          </a:prstGeom>
          <a:ln w="28575" cap="flat">
            <a:solidFill>
              <a:srgbClr val="8E8E8E"/>
            </a:solidFill>
            <a:prstDash val="sysDash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7291596" y="4443645"/>
            <a:ext cx="3704808" cy="4057650"/>
            <a:chOff x="0" y="0"/>
            <a:chExt cx="1013185" cy="1109679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13185" cy="1109679"/>
            </a:xfrm>
            <a:custGeom>
              <a:avLst/>
              <a:gdLst/>
              <a:ahLst/>
              <a:cxnLst/>
              <a:rect l="l" t="t" r="r" b="b"/>
              <a:pathLst>
                <a:path w="1013185" h="1109679">
                  <a:moveTo>
                    <a:pt x="41794" y="0"/>
                  </a:moveTo>
                  <a:lnTo>
                    <a:pt x="971391" y="0"/>
                  </a:lnTo>
                  <a:cubicBezTo>
                    <a:pt x="994473" y="0"/>
                    <a:pt x="1013185" y="18712"/>
                    <a:pt x="1013185" y="41794"/>
                  </a:cubicBezTo>
                  <a:lnTo>
                    <a:pt x="1013185" y="1067885"/>
                  </a:lnTo>
                  <a:cubicBezTo>
                    <a:pt x="1013185" y="1090968"/>
                    <a:pt x="994473" y="1109679"/>
                    <a:pt x="971391" y="1109679"/>
                  </a:cubicBezTo>
                  <a:lnTo>
                    <a:pt x="41794" y="1109679"/>
                  </a:lnTo>
                  <a:cubicBezTo>
                    <a:pt x="18712" y="1109679"/>
                    <a:pt x="0" y="1090968"/>
                    <a:pt x="0" y="1067885"/>
                  </a:cubicBezTo>
                  <a:lnTo>
                    <a:pt x="0" y="41794"/>
                  </a:lnTo>
                  <a:cubicBezTo>
                    <a:pt x="0" y="18712"/>
                    <a:pt x="18712" y="0"/>
                    <a:pt x="41794" y="0"/>
                  </a:cubicBezTo>
                  <a:close/>
                </a:path>
              </a:pathLst>
            </a:custGeom>
            <a:solidFill>
              <a:srgbClr val="FFE5B8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13185" cy="11477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38496" y="4443645"/>
            <a:ext cx="5305008" cy="1718553"/>
            <a:chOff x="0" y="0"/>
            <a:chExt cx="1450805" cy="46998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50805" cy="469987"/>
            </a:xfrm>
            <a:custGeom>
              <a:avLst/>
              <a:gdLst/>
              <a:ahLst/>
              <a:cxnLst/>
              <a:rect l="l" t="t" r="r" b="b"/>
              <a:pathLst>
                <a:path w="1450805" h="469987">
                  <a:moveTo>
                    <a:pt x="29187" y="0"/>
                  </a:moveTo>
                  <a:lnTo>
                    <a:pt x="1421617" y="0"/>
                  </a:lnTo>
                  <a:cubicBezTo>
                    <a:pt x="1437737" y="0"/>
                    <a:pt x="1450805" y="13068"/>
                    <a:pt x="1450805" y="29187"/>
                  </a:cubicBezTo>
                  <a:lnTo>
                    <a:pt x="1450805" y="440800"/>
                  </a:lnTo>
                  <a:cubicBezTo>
                    <a:pt x="1450805" y="456919"/>
                    <a:pt x="1437737" y="469987"/>
                    <a:pt x="1421617" y="469987"/>
                  </a:cubicBezTo>
                  <a:lnTo>
                    <a:pt x="29187" y="469987"/>
                  </a:lnTo>
                  <a:cubicBezTo>
                    <a:pt x="21446" y="469987"/>
                    <a:pt x="14022" y="466912"/>
                    <a:pt x="8549" y="461438"/>
                  </a:cubicBezTo>
                  <a:cubicBezTo>
                    <a:pt x="3075" y="455965"/>
                    <a:pt x="0" y="448541"/>
                    <a:pt x="0" y="440800"/>
                  </a:cubicBezTo>
                  <a:lnTo>
                    <a:pt x="0" y="29187"/>
                  </a:lnTo>
                  <a:cubicBezTo>
                    <a:pt x="0" y="13068"/>
                    <a:pt x="13068" y="0"/>
                    <a:pt x="29187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450805" cy="508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444079" y="4443645"/>
            <a:ext cx="5305008" cy="1718553"/>
            <a:chOff x="0" y="0"/>
            <a:chExt cx="1450805" cy="469987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50805" cy="469987"/>
            </a:xfrm>
            <a:custGeom>
              <a:avLst/>
              <a:gdLst/>
              <a:ahLst/>
              <a:cxnLst/>
              <a:rect l="l" t="t" r="r" b="b"/>
              <a:pathLst>
                <a:path w="1450805" h="469987">
                  <a:moveTo>
                    <a:pt x="29187" y="0"/>
                  </a:moveTo>
                  <a:lnTo>
                    <a:pt x="1421617" y="0"/>
                  </a:lnTo>
                  <a:cubicBezTo>
                    <a:pt x="1437737" y="0"/>
                    <a:pt x="1450805" y="13068"/>
                    <a:pt x="1450805" y="29187"/>
                  </a:cubicBezTo>
                  <a:lnTo>
                    <a:pt x="1450805" y="440800"/>
                  </a:lnTo>
                  <a:cubicBezTo>
                    <a:pt x="1450805" y="456919"/>
                    <a:pt x="1437737" y="469987"/>
                    <a:pt x="1421617" y="469987"/>
                  </a:cubicBezTo>
                  <a:lnTo>
                    <a:pt x="29187" y="469987"/>
                  </a:lnTo>
                  <a:cubicBezTo>
                    <a:pt x="21446" y="469987"/>
                    <a:pt x="14022" y="466912"/>
                    <a:pt x="8549" y="461438"/>
                  </a:cubicBezTo>
                  <a:cubicBezTo>
                    <a:pt x="3075" y="455965"/>
                    <a:pt x="0" y="448541"/>
                    <a:pt x="0" y="440800"/>
                  </a:cubicBezTo>
                  <a:lnTo>
                    <a:pt x="0" y="29187"/>
                  </a:lnTo>
                  <a:cubicBezTo>
                    <a:pt x="0" y="13068"/>
                    <a:pt x="13068" y="0"/>
                    <a:pt x="29187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1450805" cy="508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38496" y="6782742"/>
            <a:ext cx="5305008" cy="1718553"/>
            <a:chOff x="0" y="0"/>
            <a:chExt cx="1450805" cy="469987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450805" cy="469987"/>
            </a:xfrm>
            <a:custGeom>
              <a:avLst/>
              <a:gdLst/>
              <a:ahLst/>
              <a:cxnLst/>
              <a:rect l="l" t="t" r="r" b="b"/>
              <a:pathLst>
                <a:path w="1450805" h="469987">
                  <a:moveTo>
                    <a:pt x="29187" y="0"/>
                  </a:moveTo>
                  <a:lnTo>
                    <a:pt x="1421617" y="0"/>
                  </a:lnTo>
                  <a:cubicBezTo>
                    <a:pt x="1437737" y="0"/>
                    <a:pt x="1450805" y="13068"/>
                    <a:pt x="1450805" y="29187"/>
                  </a:cubicBezTo>
                  <a:lnTo>
                    <a:pt x="1450805" y="440800"/>
                  </a:lnTo>
                  <a:cubicBezTo>
                    <a:pt x="1450805" y="456919"/>
                    <a:pt x="1437737" y="469987"/>
                    <a:pt x="1421617" y="469987"/>
                  </a:cubicBezTo>
                  <a:lnTo>
                    <a:pt x="29187" y="469987"/>
                  </a:lnTo>
                  <a:cubicBezTo>
                    <a:pt x="21446" y="469987"/>
                    <a:pt x="14022" y="466912"/>
                    <a:pt x="8549" y="461438"/>
                  </a:cubicBezTo>
                  <a:cubicBezTo>
                    <a:pt x="3075" y="455965"/>
                    <a:pt x="0" y="448541"/>
                    <a:pt x="0" y="440800"/>
                  </a:cubicBezTo>
                  <a:lnTo>
                    <a:pt x="0" y="29187"/>
                  </a:lnTo>
                  <a:cubicBezTo>
                    <a:pt x="0" y="13068"/>
                    <a:pt x="13068" y="0"/>
                    <a:pt x="29187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1450805" cy="508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444079" y="6782742"/>
            <a:ext cx="5305008" cy="1718553"/>
            <a:chOff x="0" y="0"/>
            <a:chExt cx="1450805" cy="46998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450805" cy="469987"/>
            </a:xfrm>
            <a:custGeom>
              <a:avLst/>
              <a:gdLst/>
              <a:ahLst/>
              <a:cxnLst/>
              <a:rect l="l" t="t" r="r" b="b"/>
              <a:pathLst>
                <a:path w="1450805" h="469987">
                  <a:moveTo>
                    <a:pt x="29187" y="0"/>
                  </a:moveTo>
                  <a:lnTo>
                    <a:pt x="1421617" y="0"/>
                  </a:lnTo>
                  <a:cubicBezTo>
                    <a:pt x="1437737" y="0"/>
                    <a:pt x="1450805" y="13068"/>
                    <a:pt x="1450805" y="29187"/>
                  </a:cubicBezTo>
                  <a:lnTo>
                    <a:pt x="1450805" y="440800"/>
                  </a:lnTo>
                  <a:cubicBezTo>
                    <a:pt x="1450805" y="456919"/>
                    <a:pt x="1437737" y="469987"/>
                    <a:pt x="1421617" y="469987"/>
                  </a:cubicBezTo>
                  <a:lnTo>
                    <a:pt x="29187" y="469987"/>
                  </a:lnTo>
                  <a:cubicBezTo>
                    <a:pt x="21446" y="469987"/>
                    <a:pt x="14022" y="466912"/>
                    <a:pt x="8549" y="461438"/>
                  </a:cubicBezTo>
                  <a:cubicBezTo>
                    <a:pt x="3075" y="455965"/>
                    <a:pt x="0" y="448541"/>
                    <a:pt x="0" y="440800"/>
                  </a:cubicBezTo>
                  <a:lnTo>
                    <a:pt x="0" y="29187"/>
                  </a:lnTo>
                  <a:cubicBezTo>
                    <a:pt x="0" y="13068"/>
                    <a:pt x="13068" y="0"/>
                    <a:pt x="29187" y="0"/>
                  </a:cubicBezTo>
                  <a:close/>
                </a:path>
              </a:pathLst>
            </a:custGeom>
            <a:solidFill>
              <a:srgbClr val="FEF9DC"/>
            </a:solidFill>
            <a:ln w="28575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1450805" cy="50808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7507496" y="6909297"/>
            <a:ext cx="3273008" cy="1099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Aft>
                <a:spcPts val="600"/>
              </a:spcAft>
            </a:pPr>
            <a:r>
              <a:rPr sz="1400">
                <a:solidFill>
                  <a:srgbClr val="000000"/>
                </a:solidFill>
                <a:latin typeface="윤고딕"/>
              </a:rPr>
              <a:t>판정은 코드, 설명은 AI — 이 구조를 바꾸지 않고 입력만 늘린다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291596" y="6114573"/>
            <a:ext cx="3704808" cy="405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73"/>
              </a:lnSpc>
              <a:spcBef>
                <a:spcPct val="0"/>
              </a:spcBef>
              <a:spcAft>
                <a:spcPts val="600"/>
              </a:spcAft>
            </a:pPr>
            <a:r>
              <a:rPr sz="2300">
                <a:solidFill>
                  <a:srgbClr val="000000"/>
                </a:solidFill>
                <a:latin typeface="TDTD평고딕"/>
              </a:rPr>
              <a:t>확장</a:t>
            </a:r>
          </a:p>
        </p:txBody>
      </p:sp>
      <p:sp>
        <p:nvSpPr>
          <p:cNvPr id="27" name="Freeform 27"/>
          <p:cNvSpPr/>
          <p:nvPr/>
        </p:nvSpPr>
        <p:spPr>
          <a:xfrm>
            <a:off x="8745439" y="4891048"/>
            <a:ext cx="1043860" cy="1071125"/>
          </a:xfrm>
          <a:custGeom>
            <a:avLst/>
            <a:gdLst/>
            <a:ahLst/>
            <a:cxnLst/>
            <a:rect l="l" t="t" r="r" b="b"/>
            <a:pathLst>
              <a:path w="1043860" h="1071125">
                <a:moveTo>
                  <a:pt x="0" y="0"/>
                </a:moveTo>
                <a:lnTo>
                  <a:pt x="1043861" y="0"/>
                </a:lnTo>
                <a:lnTo>
                  <a:pt x="1043861" y="1071125"/>
                </a:lnTo>
                <a:lnTo>
                  <a:pt x="0" y="10711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1821598" y="4666402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01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727181" y="4666402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821598" y="7005499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03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1727181" y="7005499"/>
            <a:ext cx="921029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000" b="1">
                <a:solidFill>
                  <a:srgbClr val="000000"/>
                </a:solidFill>
                <a:latin typeface="Lato Heavy"/>
                <a:ea typeface="Lato Heavy"/>
                <a:cs typeface="Lato Heavy"/>
                <a:sym typeface="Lato Heavy"/>
              </a:rPr>
              <a:t>04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677239" y="4667673"/>
            <a:ext cx="381855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Aft>
                <a:spcPts val="600"/>
              </a:spcAft>
            </a:pPr>
            <a:r>
              <a:rPr sz="2100" b="1">
                <a:solidFill>
                  <a:srgbClr val="C0504D"/>
                </a:solidFill>
                <a:latin typeface="TDTD평고딕"/>
              </a:rPr>
              <a:t>진짜 실시간 알림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582822" y="4667673"/>
            <a:ext cx="381855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Aft>
                <a:spcPts val="600"/>
              </a:spcAft>
            </a:pPr>
            <a:r>
              <a:rPr sz="2100" b="1">
                <a:solidFill>
                  <a:srgbClr val="000000"/>
                </a:solidFill>
                <a:latin typeface="TDTD평고딕"/>
              </a:rPr>
              <a:t>정정 전후 수치 diff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77239" y="7006770"/>
            <a:ext cx="381855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Aft>
                <a:spcPts val="600"/>
              </a:spcAft>
            </a:pPr>
            <a:r>
              <a:rPr sz="2100" b="1">
                <a:solidFill>
                  <a:srgbClr val="000000"/>
                </a:solidFill>
                <a:latin typeface="TDTD평고딕"/>
              </a:rPr>
              <a:t>공시 본문 구조화 파싱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582822" y="7006770"/>
            <a:ext cx="3818558" cy="431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0"/>
              </a:lnSpc>
              <a:spcAft>
                <a:spcPts val="600"/>
              </a:spcAft>
            </a:pPr>
            <a:r>
              <a:rPr sz="2100" b="1">
                <a:solidFill>
                  <a:srgbClr val="000000"/>
                </a:solidFill>
                <a:latin typeface="TDTD평고딕"/>
              </a:rPr>
              <a:t>재검토 결정 로그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677239" y="5053754"/>
            <a:ext cx="3818558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  <a:spcAft>
                <a:spcPts val="600"/>
              </a:spcAft>
            </a:pPr>
            <a:r>
              <a:rPr sz="1300" dirty="0">
                <a:solidFill>
                  <a:srgbClr val="000000"/>
                </a:solidFill>
                <a:latin typeface="윤고딕"/>
              </a:rPr>
              <a:t>LISTEN/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NOTIFY로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긴급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이벤트가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쌓이는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순간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발송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. 10분을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기다리지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않고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긴급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종목을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실시간으로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찾아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바로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문자가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 </a:t>
            </a:r>
            <a:r>
              <a:rPr sz="1300" dirty="0" err="1">
                <a:solidFill>
                  <a:srgbClr val="000000"/>
                </a:solidFill>
                <a:latin typeface="윤고딕"/>
              </a:rPr>
              <a:t>간다</a:t>
            </a:r>
            <a:r>
              <a:rPr sz="1300" dirty="0">
                <a:solidFill>
                  <a:srgbClr val="000000"/>
                </a:solidFill>
                <a:latin typeface="윤고딕"/>
              </a:rPr>
              <a:t>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2582822" y="5224431"/>
            <a:ext cx="3818558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윤고딕"/>
              </a:rPr>
              <a:t>D5를 키워드가 아니라 실제 변경폭으로 분류. “매출 30% 이상 정정”이 자동으로 핵심 재무 정정이 된다.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677239" y="7563528"/>
            <a:ext cx="3818558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윤고딕"/>
              </a:rPr>
              <a:t>감사의견 · 최대주주 변경 · 자금 사용 목적을 제목이 아니라 본문 필드에서 탐지한다.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582822" y="7563528"/>
            <a:ext cx="3818558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9"/>
              </a:lnSpc>
              <a:spcBef>
                <a:spcPct val="0"/>
              </a:spcBef>
              <a:spcAft>
                <a:spcPts val="600"/>
              </a:spcAft>
            </a:pPr>
            <a:r>
              <a:rPr sz="1300">
                <a:solidFill>
                  <a:srgbClr val="000000"/>
                </a:solidFill>
                <a:latin typeface="윤고딕"/>
              </a:rPr>
              <a:t>Rule 적중 여부와 담당자의 실제 재검토 결정을 비교해 임계값과 점수를 데이터로 보정한다.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1444752"/>
            <a:ext cx="155082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>
                <a:solidFill>
                  <a:srgbClr val="6B6B6B"/>
                </a:solidFill>
                <a:latin typeface="윤고딕"/>
              </a:rPr>
              <a:t>08. 확장 방향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18740" y="403479"/>
            <a:ext cx="17450520" cy="9480042"/>
            <a:chOff x="0" y="0"/>
            <a:chExt cx="23267360" cy="12640057"/>
          </a:xfrm>
        </p:grpSpPr>
        <p:grpSp>
          <p:nvGrpSpPr>
            <p:cNvPr id="3" name="Group 3"/>
            <p:cNvGrpSpPr/>
            <p:nvPr/>
          </p:nvGrpSpPr>
          <p:grpSpPr>
            <a:xfrm rot="5400000">
              <a:off x="5312852" y="-5312852"/>
              <a:ext cx="12640057" cy="23265761"/>
              <a:chOff x="0" y="0"/>
              <a:chExt cx="2547656" cy="4689466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2547656" cy="4689466"/>
              </a:xfrm>
              <a:custGeom>
                <a:avLst/>
                <a:gdLst/>
                <a:ahLst/>
                <a:cxnLst/>
                <a:rect l="l" t="t" r="r" b="b"/>
                <a:pathLst>
                  <a:path w="2547656" h="4689466">
                    <a:moveTo>
                      <a:pt x="2547656" y="28335"/>
                    </a:moveTo>
                    <a:lnTo>
                      <a:pt x="2547656" y="4661131"/>
                    </a:lnTo>
                    <a:cubicBezTo>
                      <a:pt x="2547656" y="4676780"/>
                      <a:pt x="2534970" y="4689466"/>
                      <a:pt x="2519322" y="4689466"/>
                    </a:cubicBezTo>
                    <a:lnTo>
                      <a:pt x="28335" y="4689466"/>
                    </a:lnTo>
                    <a:cubicBezTo>
                      <a:pt x="12686" y="4689466"/>
                      <a:pt x="0" y="4676780"/>
                      <a:pt x="0" y="4661131"/>
                    </a:cubicBezTo>
                    <a:lnTo>
                      <a:pt x="0" y="28335"/>
                    </a:lnTo>
                    <a:cubicBezTo>
                      <a:pt x="0" y="12686"/>
                      <a:pt x="12686" y="0"/>
                      <a:pt x="28335" y="0"/>
                    </a:cubicBezTo>
                    <a:lnTo>
                      <a:pt x="2519322" y="0"/>
                    </a:lnTo>
                    <a:cubicBezTo>
                      <a:pt x="2526836" y="0"/>
                      <a:pt x="2534044" y="2985"/>
                      <a:pt x="2539357" y="8299"/>
                    </a:cubicBezTo>
                    <a:cubicBezTo>
                      <a:pt x="2544671" y="13613"/>
                      <a:pt x="2547656" y="20820"/>
                      <a:pt x="2547656" y="28335"/>
                    </a:cubicBezTo>
                    <a:close/>
                  </a:path>
                </a:pathLst>
              </a:custGeom>
              <a:solidFill>
                <a:srgbClr val="FFFFFF"/>
              </a:solidFill>
              <a:ln w="4762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id="5" name="TextBox 5"/>
              <p:cNvSpPr txBox="1"/>
              <p:nvPr/>
            </p:nvSpPr>
            <p:spPr>
              <a:xfrm>
                <a:off x="0" y="-19050"/>
                <a:ext cx="2547656" cy="4708516"/>
              </a:xfrm>
              <a:prstGeom prst="rect">
                <a:avLst/>
              </a:prstGeom>
            </p:spPr>
            <p:txBody>
              <a:bodyPr lIns="52513" tIns="52513" rIns="52513" bIns="52513" rtlCol="0" anchor="ctr"/>
              <a:lstStyle/>
              <a:p>
                <a:pPr marL="0" lvl="0" indent="0" algn="ctr">
                  <a:lnSpc>
                    <a:spcPts val="161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" name="AutoShape 6"/>
            <p:cNvSpPr/>
            <p:nvPr/>
          </p:nvSpPr>
          <p:spPr>
            <a:xfrm>
              <a:off x="0" y="1235261"/>
              <a:ext cx="23267360" cy="0"/>
            </a:xfrm>
            <a:prstGeom prst="line">
              <a:avLst/>
            </a:prstGeom>
            <a:ln w="62948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7" name="Freeform 7"/>
            <p:cNvSpPr/>
            <p:nvPr/>
          </p:nvSpPr>
          <p:spPr>
            <a:xfrm>
              <a:off x="21467372" y="624736"/>
              <a:ext cx="1011173" cy="240154"/>
            </a:xfrm>
            <a:custGeom>
              <a:avLst/>
              <a:gdLst/>
              <a:ahLst/>
              <a:cxnLst/>
              <a:rect l="l" t="t" r="r" b="b"/>
              <a:pathLst>
                <a:path w="1011173" h="240154">
                  <a:moveTo>
                    <a:pt x="0" y="0"/>
                  </a:moveTo>
                  <a:lnTo>
                    <a:pt x="1011172" y="0"/>
                  </a:lnTo>
                  <a:lnTo>
                    <a:pt x="1011172" y="240154"/>
                  </a:lnTo>
                  <a:lnTo>
                    <a:pt x="0" y="2401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5628813" y="4494524"/>
            <a:ext cx="7030373" cy="1164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244"/>
              </a:lnSpc>
              <a:spcBef>
                <a:spcPct val="0"/>
              </a:spcBef>
              <a:spcAft>
                <a:spcPts val="600"/>
              </a:spcAft>
            </a:pPr>
            <a:r>
              <a:rPr sz="7200" dirty="0" err="1">
                <a:solidFill>
                  <a:srgbClr val="000000"/>
                </a:solidFill>
                <a:latin typeface="윤고딕 Semi-Bold"/>
              </a:rPr>
              <a:t>감사합니다</a:t>
            </a:r>
            <a:endParaRPr sz="7200" dirty="0">
              <a:solidFill>
                <a:srgbClr val="000000"/>
              </a:solidFill>
              <a:latin typeface="윤고딕 Semi-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657600" y="6492240"/>
            <a:ext cx="10972800" cy="8181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0"/>
              </a:lnSpc>
              <a:spcAft>
                <a:spcPts val="1000"/>
              </a:spcAft>
            </a:pP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점수는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변화의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크기가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아니라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,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담당자가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다시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써야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하는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분석의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범위다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.</a:t>
            </a:r>
          </a:p>
          <a:p>
            <a:pPr algn="ctr">
              <a:spcAft>
                <a:spcPts val="1000"/>
              </a:spcAft>
            </a:pP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AI의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가치는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계산이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아니라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,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근거를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사람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말로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바꾸는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 데 </a:t>
            </a:r>
            <a:r>
              <a:rPr sz="1900" dirty="0" err="1">
                <a:latin typeface="윤고딕 Semi-Bold" panose="020B0600000101010101" charset="-127"/>
                <a:ea typeface="윤고딕 Semi-Bold" panose="020B0600000101010101" charset="-127"/>
              </a:rPr>
              <a:t>있다</a:t>
            </a:r>
            <a:r>
              <a:rPr sz="1900" dirty="0">
                <a:latin typeface="윤고딕 Semi-Bold" panose="020B0600000101010101" charset="-127"/>
                <a:ea typeface="윤고딕 Semi-Bold" panose="020B0600000101010101" charset="-127"/>
              </a:rPr>
              <a:t>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657600" y="8046720"/>
            <a:ext cx="10972800" cy="457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  <a:spcAft>
                <a:spcPts val="600"/>
              </a:spcAft>
            </a:pPr>
            <a:r>
              <a:rPr sz="1700">
                <a:solidFill>
                  <a:srgbClr val="000000"/>
                </a:solidFill>
                <a:latin typeface="윤고딕 Bold"/>
              </a:rPr>
              <a:t>DeltaWatch AI · 강민지 · 권지은 · 김창우 · 허준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2468</Words>
  <Application>Microsoft Office PowerPoint</Application>
  <PresentationFormat>사용자 지정</PresentationFormat>
  <Paragraphs>215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4" baseType="lpstr">
      <vt:lpstr>Lato Bold</vt:lpstr>
      <vt:lpstr>Lato Heavy</vt:lpstr>
      <vt:lpstr>윤고딕 Semi-Bold</vt:lpstr>
      <vt:lpstr>윤고딕</vt:lpstr>
      <vt:lpstr>윤고딕 Bold</vt:lpstr>
      <vt:lpstr>Calibri</vt:lpstr>
      <vt:lpstr>Arial</vt:lpstr>
      <vt:lpstr>TDTD평고딕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베이지 블랙과 화이트 단순하고 심플한 인터페이스 레이아웃 프레젠테이션</dc:title>
  <dc:creator>Minji kang</dc:creator>
  <cp:lastModifiedBy>Minji kang</cp:lastModifiedBy>
  <cp:revision>5</cp:revision>
  <dcterms:created xsi:type="dcterms:W3CDTF">2006-08-16T00:00:00Z</dcterms:created>
  <dcterms:modified xsi:type="dcterms:W3CDTF">2026-10-12T06:18:38Z</dcterms:modified>
  <dc:identifier>DAHXxADdDjI</dc:identifier>
</cp:coreProperties>
</file>